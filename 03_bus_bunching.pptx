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4" r:id="rId6"/>
    <p:sldId id="263" r:id="rId7"/>
    <p:sldId id="261" r:id="rId8"/>
    <p:sldId id="268" r:id="rId9"/>
    <p:sldId id="266" r:id="rId10"/>
    <p:sldId id="269" r:id="rId11"/>
    <p:sldId id="271" r:id="rId12"/>
    <p:sldId id="270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12" d="100"/>
          <a:sy n="112" d="100"/>
        </p:scale>
        <p:origin x="112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C8A220-52F9-49DF-A6C9-753C06E9C6E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760176-BAE7-4011-8804-23F7709EFC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Have you ever waited a long time for the bus, then three buses arrive at once? This is known as bus bunching.</a:t>
          </a:r>
        </a:p>
      </dgm:t>
    </dgm:pt>
    <dgm:pt modelId="{072D0EFD-3466-49BC-88DD-06174112B148}" type="parTrans" cxnId="{FC439BF6-C958-4AFC-99AD-CC7B46EA6322}">
      <dgm:prSet/>
      <dgm:spPr/>
      <dgm:t>
        <a:bodyPr/>
        <a:lstStyle/>
        <a:p>
          <a:endParaRPr lang="en-US"/>
        </a:p>
      </dgm:t>
    </dgm:pt>
    <dgm:pt modelId="{FAD611E3-486B-4209-BAA4-E07FE2F1A09E}" type="sibTrans" cxnId="{FC439BF6-C958-4AFC-99AD-CC7B46EA6322}">
      <dgm:prSet/>
      <dgm:spPr/>
      <dgm:t>
        <a:bodyPr/>
        <a:lstStyle/>
        <a:p>
          <a:endParaRPr lang="en-US"/>
        </a:p>
      </dgm:t>
    </dgm:pt>
    <dgm:pt modelId="{A83155F0-8CBF-4E5C-90DA-446D9D2AEF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 bunching is one of the most common and costly reliability failures in urban transit systems.</a:t>
          </a:r>
        </a:p>
      </dgm:t>
    </dgm:pt>
    <dgm:pt modelId="{F31C86AD-C8F4-4423-BEF7-EA7DBA29AFCA}" type="parTrans" cxnId="{53AD720E-BAD1-433F-A5E8-AD7F30CE25A6}">
      <dgm:prSet/>
      <dgm:spPr/>
      <dgm:t>
        <a:bodyPr/>
        <a:lstStyle/>
        <a:p>
          <a:endParaRPr lang="en-US"/>
        </a:p>
      </dgm:t>
    </dgm:pt>
    <dgm:pt modelId="{DCC8DA98-DBF4-497D-89C9-9C01F7BBEA8D}" type="sibTrans" cxnId="{53AD720E-BAD1-433F-A5E8-AD7F30CE25A6}">
      <dgm:prSet/>
      <dgm:spPr/>
      <dgm:t>
        <a:bodyPr/>
        <a:lstStyle/>
        <a:p>
          <a:endParaRPr lang="en-US"/>
        </a:p>
      </dgm:t>
    </dgm:pt>
    <dgm:pt modelId="{595C1CE5-545E-47CA-B03D-A07596A43E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increases passenger wait times and overcrowds some buses while others run empty.</a:t>
          </a:r>
        </a:p>
      </dgm:t>
    </dgm:pt>
    <dgm:pt modelId="{59CBE414-14C2-40E8-BB49-5B868F53CE7B}" type="parTrans" cxnId="{1F6E3EF6-D931-48A0-9832-3EF226EA6267}">
      <dgm:prSet/>
      <dgm:spPr/>
      <dgm:t>
        <a:bodyPr/>
        <a:lstStyle/>
        <a:p>
          <a:endParaRPr lang="en-US"/>
        </a:p>
      </dgm:t>
    </dgm:pt>
    <dgm:pt modelId="{70C2BA03-71A3-4FAF-8E23-3BD7DB1516A3}" type="sibTrans" cxnId="{1F6E3EF6-D931-48A0-9832-3EF226EA6267}">
      <dgm:prSet/>
      <dgm:spPr/>
      <dgm:t>
        <a:bodyPr/>
        <a:lstStyle/>
        <a:p>
          <a:endParaRPr lang="en-US"/>
        </a:p>
      </dgm:t>
    </dgm:pt>
    <dgm:pt modelId="{6C946E48-CB16-49B3-8AA7-2690C676DF81}" type="pres">
      <dgm:prSet presAssocID="{64C8A220-52F9-49DF-A6C9-753C06E9C6E6}" presName="root" presStyleCnt="0">
        <dgm:presLayoutVars>
          <dgm:dir/>
          <dgm:resizeHandles val="exact"/>
        </dgm:presLayoutVars>
      </dgm:prSet>
      <dgm:spPr/>
    </dgm:pt>
    <dgm:pt modelId="{FEE724EB-42E8-4B9C-9DC1-1E9D671B0D5F}" type="pres">
      <dgm:prSet presAssocID="{A3760176-BAE7-4011-8804-23F7709EFC7A}" presName="compNode" presStyleCnt="0"/>
      <dgm:spPr/>
    </dgm:pt>
    <dgm:pt modelId="{73BEFD95-4244-41A7-BD07-46AB40954DF0}" type="pres">
      <dgm:prSet presAssocID="{A3760176-BAE7-4011-8804-23F7709EFC7A}" presName="bgRect" presStyleLbl="bgShp" presStyleIdx="0" presStyleCnt="3"/>
      <dgm:spPr/>
    </dgm:pt>
    <dgm:pt modelId="{5F3D80D9-2903-4AE9-87CC-01D3ADFF67C5}" type="pres">
      <dgm:prSet presAssocID="{A3760176-BAE7-4011-8804-23F7709EFC7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473540B3-FAB6-475F-839E-91EB9CFE88C8}" type="pres">
      <dgm:prSet presAssocID="{A3760176-BAE7-4011-8804-23F7709EFC7A}" presName="spaceRect" presStyleCnt="0"/>
      <dgm:spPr/>
    </dgm:pt>
    <dgm:pt modelId="{194B4E65-7C7D-496E-990A-09C9F4F1FBA2}" type="pres">
      <dgm:prSet presAssocID="{A3760176-BAE7-4011-8804-23F7709EFC7A}" presName="parTx" presStyleLbl="revTx" presStyleIdx="0" presStyleCnt="3">
        <dgm:presLayoutVars>
          <dgm:chMax val="0"/>
          <dgm:chPref val="0"/>
        </dgm:presLayoutVars>
      </dgm:prSet>
      <dgm:spPr/>
    </dgm:pt>
    <dgm:pt modelId="{FA34F2CA-2AE1-479F-B4C8-A4540799C77F}" type="pres">
      <dgm:prSet presAssocID="{FAD611E3-486B-4209-BAA4-E07FE2F1A09E}" presName="sibTrans" presStyleCnt="0"/>
      <dgm:spPr/>
    </dgm:pt>
    <dgm:pt modelId="{1E4C609E-CBFF-4901-8C82-8A917B426486}" type="pres">
      <dgm:prSet presAssocID="{A83155F0-8CBF-4E5C-90DA-446D9D2AEFB7}" presName="compNode" presStyleCnt="0"/>
      <dgm:spPr/>
    </dgm:pt>
    <dgm:pt modelId="{CD79A06A-6806-41EA-9A31-3F03FB4535DC}" type="pres">
      <dgm:prSet presAssocID="{A83155F0-8CBF-4E5C-90DA-446D9D2AEFB7}" presName="bgRect" presStyleLbl="bgShp" presStyleIdx="1" presStyleCnt="3"/>
      <dgm:spPr/>
    </dgm:pt>
    <dgm:pt modelId="{BAA4D794-678F-4B50-91BE-E44C3DB66DE9}" type="pres">
      <dgm:prSet presAssocID="{A83155F0-8CBF-4E5C-90DA-446D9D2AEFB7}" presName="iconRect" presStyleLbl="node1" presStyleIdx="1" presStyleCnt="3"/>
      <dgm:spPr>
        <a:blipFill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BC0DAE9C-837F-4D21-BA85-CA8493580661}" type="pres">
      <dgm:prSet presAssocID="{A83155F0-8CBF-4E5C-90DA-446D9D2AEFB7}" presName="spaceRect" presStyleCnt="0"/>
      <dgm:spPr/>
    </dgm:pt>
    <dgm:pt modelId="{2ADC7C36-AAF5-4B64-BD12-033D8331EC45}" type="pres">
      <dgm:prSet presAssocID="{A83155F0-8CBF-4E5C-90DA-446D9D2AEFB7}" presName="parTx" presStyleLbl="revTx" presStyleIdx="1" presStyleCnt="3">
        <dgm:presLayoutVars>
          <dgm:chMax val="0"/>
          <dgm:chPref val="0"/>
        </dgm:presLayoutVars>
      </dgm:prSet>
      <dgm:spPr/>
    </dgm:pt>
    <dgm:pt modelId="{7A51CDA6-C659-44A1-9F77-C9353F54BD84}" type="pres">
      <dgm:prSet presAssocID="{DCC8DA98-DBF4-497D-89C9-9C01F7BBEA8D}" presName="sibTrans" presStyleCnt="0"/>
      <dgm:spPr/>
    </dgm:pt>
    <dgm:pt modelId="{41E598B3-55D1-4F0E-B366-E76C612BFE02}" type="pres">
      <dgm:prSet presAssocID="{595C1CE5-545E-47CA-B03D-A07596A43E01}" presName="compNode" presStyleCnt="0"/>
      <dgm:spPr/>
    </dgm:pt>
    <dgm:pt modelId="{7A5501CC-F087-4D62-BB62-3DD1D82628DD}" type="pres">
      <dgm:prSet presAssocID="{595C1CE5-545E-47CA-B03D-A07596A43E01}" presName="bgRect" presStyleLbl="bgShp" presStyleIdx="2" presStyleCnt="3"/>
      <dgm:spPr/>
    </dgm:pt>
    <dgm:pt modelId="{9728BEDF-8993-4A24-AD71-2CBDDAD11A29}" type="pres">
      <dgm:prSet presAssocID="{595C1CE5-545E-47CA-B03D-A07596A43E01}" presName="iconRect" presStyleLbl="node1" presStyleIdx="2" presStyleCnt="3"/>
      <dgm:spPr>
        <a:blipFill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etcar"/>
        </a:ext>
      </dgm:extLst>
    </dgm:pt>
    <dgm:pt modelId="{8793EF4C-D358-45E9-A7A2-37CF9B0196E5}" type="pres">
      <dgm:prSet presAssocID="{595C1CE5-545E-47CA-B03D-A07596A43E01}" presName="spaceRect" presStyleCnt="0"/>
      <dgm:spPr/>
    </dgm:pt>
    <dgm:pt modelId="{EDD3CF27-DC7C-47E0-B7A6-DFB70622C5BC}" type="pres">
      <dgm:prSet presAssocID="{595C1CE5-545E-47CA-B03D-A07596A43E0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0359B04-F2B9-4361-84F2-038144567220}" type="presOf" srcId="{595C1CE5-545E-47CA-B03D-A07596A43E01}" destId="{EDD3CF27-DC7C-47E0-B7A6-DFB70622C5BC}" srcOrd="0" destOrd="0" presId="urn:microsoft.com/office/officeart/2018/2/layout/IconVerticalSolidList"/>
    <dgm:cxn modelId="{53AD720E-BAD1-433F-A5E8-AD7F30CE25A6}" srcId="{64C8A220-52F9-49DF-A6C9-753C06E9C6E6}" destId="{A83155F0-8CBF-4E5C-90DA-446D9D2AEFB7}" srcOrd="1" destOrd="0" parTransId="{F31C86AD-C8F4-4423-BEF7-EA7DBA29AFCA}" sibTransId="{DCC8DA98-DBF4-497D-89C9-9C01F7BBEA8D}"/>
    <dgm:cxn modelId="{E68EA61E-737F-42F0-B95B-09D3AF1B247A}" type="presOf" srcId="{64C8A220-52F9-49DF-A6C9-753C06E9C6E6}" destId="{6C946E48-CB16-49B3-8AA7-2690C676DF81}" srcOrd="0" destOrd="0" presId="urn:microsoft.com/office/officeart/2018/2/layout/IconVerticalSolidList"/>
    <dgm:cxn modelId="{C513B947-1546-4DAA-AE0F-5DA40A8A9A29}" type="presOf" srcId="{A83155F0-8CBF-4E5C-90DA-446D9D2AEFB7}" destId="{2ADC7C36-AAF5-4B64-BD12-033D8331EC45}" srcOrd="0" destOrd="0" presId="urn:microsoft.com/office/officeart/2018/2/layout/IconVerticalSolidList"/>
    <dgm:cxn modelId="{C0937148-A34A-40EA-B5BE-9DCFD3DE8F7F}" type="presOf" srcId="{A3760176-BAE7-4011-8804-23F7709EFC7A}" destId="{194B4E65-7C7D-496E-990A-09C9F4F1FBA2}" srcOrd="0" destOrd="0" presId="urn:microsoft.com/office/officeart/2018/2/layout/IconVerticalSolidList"/>
    <dgm:cxn modelId="{1F6E3EF6-D931-48A0-9832-3EF226EA6267}" srcId="{64C8A220-52F9-49DF-A6C9-753C06E9C6E6}" destId="{595C1CE5-545E-47CA-B03D-A07596A43E01}" srcOrd="2" destOrd="0" parTransId="{59CBE414-14C2-40E8-BB49-5B868F53CE7B}" sibTransId="{70C2BA03-71A3-4FAF-8E23-3BD7DB1516A3}"/>
    <dgm:cxn modelId="{FC439BF6-C958-4AFC-99AD-CC7B46EA6322}" srcId="{64C8A220-52F9-49DF-A6C9-753C06E9C6E6}" destId="{A3760176-BAE7-4011-8804-23F7709EFC7A}" srcOrd="0" destOrd="0" parTransId="{072D0EFD-3466-49BC-88DD-06174112B148}" sibTransId="{FAD611E3-486B-4209-BAA4-E07FE2F1A09E}"/>
    <dgm:cxn modelId="{9011DE60-015F-4D2E-8B53-1DDBC533C6B1}" type="presParOf" srcId="{6C946E48-CB16-49B3-8AA7-2690C676DF81}" destId="{FEE724EB-42E8-4B9C-9DC1-1E9D671B0D5F}" srcOrd="0" destOrd="0" presId="urn:microsoft.com/office/officeart/2018/2/layout/IconVerticalSolidList"/>
    <dgm:cxn modelId="{45044D13-DE11-4385-B96E-BCD1AF1B724F}" type="presParOf" srcId="{FEE724EB-42E8-4B9C-9DC1-1E9D671B0D5F}" destId="{73BEFD95-4244-41A7-BD07-46AB40954DF0}" srcOrd="0" destOrd="0" presId="urn:microsoft.com/office/officeart/2018/2/layout/IconVerticalSolidList"/>
    <dgm:cxn modelId="{1DA6A49A-45F8-430A-A208-9C1DE1DFFCD5}" type="presParOf" srcId="{FEE724EB-42E8-4B9C-9DC1-1E9D671B0D5F}" destId="{5F3D80D9-2903-4AE9-87CC-01D3ADFF67C5}" srcOrd="1" destOrd="0" presId="urn:microsoft.com/office/officeart/2018/2/layout/IconVerticalSolidList"/>
    <dgm:cxn modelId="{C7D14A95-44C6-4FA4-B89C-FEF0BBBC4E82}" type="presParOf" srcId="{FEE724EB-42E8-4B9C-9DC1-1E9D671B0D5F}" destId="{473540B3-FAB6-475F-839E-91EB9CFE88C8}" srcOrd="2" destOrd="0" presId="urn:microsoft.com/office/officeart/2018/2/layout/IconVerticalSolidList"/>
    <dgm:cxn modelId="{B005BA8D-F243-4127-A777-7B880063F2A9}" type="presParOf" srcId="{FEE724EB-42E8-4B9C-9DC1-1E9D671B0D5F}" destId="{194B4E65-7C7D-496E-990A-09C9F4F1FBA2}" srcOrd="3" destOrd="0" presId="urn:microsoft.com/office/officeart/2018/2/layout/IconVerticalSolidList"/>
    <dgm:cxn modelId="{6FCA3507-4957-46A1-9224-3405DF71CA57}" type="presParOf" srcId="{6C946E48-CB16-49B3-8AA7-2690C676DF81}" destId="{FA34F2CA-2AE1-479F-B4C8-A4540799C77F}" srcOrd="1" destOrd="0" presId="urn:microsoft.com/office/officeart/2018/2/layout/IconVerticalSolidList"/>
    <dgm:cxn modelId="{6D504280-19A3-4355-9A6D-6DAA76A574B9}" type="presParOf" srcId="{6C946E48-CB16-49B3-8AA7-2690C676DF81}" destId="{1E4C609E-CBFF-4901-8C82-8A917B426486}" srcOrd="2" destOrd="0" presId="urn:microsoft.com/office/officeart/2018/2/layout/IconVerticalSolidList"/>
    <dgm:cxn modelId="{FACF306C-AD5D-40DA-9359-51EEA639DFFD}" type="presParOf" srcId="{1E4C609E-CBFF-4901-8C82-8A917B426486}" destId="{CD79A06A-6806-41EA-9A31-3F03FB4535DC}" srcOrd="0" destOrd="0" presId="urn:microsoft.com/office/officeart/2018/2/layout/IconVerticalSolidList"/>
    <dgm:cxn modelId="{4711D427-5DEF-4B17-93DA-F0B94BDFB67D}" type="presParOf" srcId="{1E4C609E-CBFF-4901-8C82-8A917B426486}" destId="{BAA4D794-678F-4B50-91BE-E44C3DB66DE9}" srcOrd="1" destOrd="0" presId="urn:microsoft.com/office/officeart/2018/2/layout/IconVerticalSolidList"/>
    <dgm:cxn modelId="{6D5D8E23-AAEC-4A65-82E0-8AE584FB94DE}" type="presParOf" srcId="{1E4C609E-CBFF-4901-8C82-8A917B426486}" destId="{BC0DAE9C-837F-4D21-BA85-CA8493580661}" srcOrd="2" destOrd="0" presId="urn:microsoft.com/office/officeart/2018/2/layout/IconVerticalSolidList"/>
    <dgm:cxn modelId="{5ACAD2D7-6273-482E-BA42-BCEA2A0086A9}" type="presParOf" srcId="{1E4C609E-CBFF-4901-8C82-8A917B426486}" destId="{2ADC7C36-AAF5-4B64-BD12-033D8331EC45}" srcOrd="3" destOrd="0" presId="urn:microsoft.com/office/officeart/2018/2/layout/IconVerticalSolidList"/>
    <dgm:cxn modelId="{5F5B887D-EC90-45CC-A2E4-A738B97F7C2C}" type="presParOf" srcId="{6C946E48-CB16-49B3-8AA7-2690C676DF81}" destId="{7A51CDA6-C659-44A1-9F77-C9353F54BD84}" srcOrd="3" destOrd="0" presId="urn:microsoft.com/office/officeart/2018/2/layout/IconVerticalSolidList"/>
    <dgm:cxn modelId="{E255801B-6F5C-4C71-826A-64D762059D60}" type="presParOf" srcId="{6C946E48-CB16-49B3-8AA7-2690C676DF81}" destId="{41E598B3-55D1-4F0E-B366-E76C612BFE02}" srcOrd="4" destOrd="0" presId="urn:microsoft.com/office/officeart/2018/2/layout/IconVerticalSolidList"/>
    <dgm:cxn modelId="{C94CB6C5-8AEB-4162-B100-0DA002FAFCA5}" type="presParOf" srcId="{41E598B3-55D1-4F0E-B366-E76C612BFE02}" destId="{7A5501CC-F087-4D62-BB62-3DD1D82628DD}" srcOrd="0" destOrd="0" presId="urn:microsoft.com/office/officeart/2018/2/layout/IconVerticalSolidList"/>
    <dgm:cxn modelId="{CA9290A8-9E85-4F0C-BF02-EA8F1491907C}" type="presParOf" srcId="{41E598B3-55D1-4F0E-B366-E76C612BFE02}" destId="{9728BEDF-8993-4A24-AD71-2CBDDAD11A29}" srcOrd="1" destOrd="0" presId="urn:microsoft.com/office/officeart/2018/2/layout/IconVerticalSolidList"/>
    <dgm:cxn modelId="{DA75D58B-C0D2-4090-988D-C93E52BA29CF}" type="presParOf" srcId="{41E598B3-55D1-4F0E-B366-E76C612BFE02}" destId="{8793EF4C-D358-45E9-A7A2-37CF9B0196E5}" srcOrd="2" destOrd="0" presId="urn:microsoft.com/office/officeart/2018/2/layout/IconVerticalSolidList"/>
    <dgm:cxn modelId="{E086B9F5-FA8A-4696-ADE4-B71B10DF22C9}" type="presParOf" srcId="{41E598B3-55D1-4F0E-B366-E76C612BFE02}" destId="{EDD3CF27-DC7C-47E0-B7A6-DFB70622C5B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EFD95-4244-41A7-BD07-46AB40954DF0}">
      <dsp:nvSpPr>
        <dsp:cNvPr id="0" name=""/>
        <dsp:cNvSpPr/>
      </dsp:nvSpPr>
      <dsp:spPr>
        <a:xfrm>
          <a:off x="0" y="518"/>
          <a:ext cx="6944497" cy="12132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3D80D9-2903-4AE9-87CC-01D3ADFF67C5}">
      <dsp:nvSpPr>
        <dsp:cNvPr id="0" name=""/>
        <dsp:cNvSpPr/>
      </dsp:nvSpPr>
      <dsp:spPr>
        <a:xfrm>
          <a:off x="366999" y="273493"/>
          <a:ext cx="667272" cy="6672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B4E65-7C7D-496E-990A-09C9F4F1FBA2}">
      <dsp:nvSpPr>
        <dsp:cNvPr id="0" name=""/>
        <dsp:cNvSpPr/>
      </dsp:nvSpPr>
      <dsp:spPr>
        <a:xfrm>
          <a:off x="1401272" y="518"/>
          <a:ext cx="5543224" cy="1213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99" tIns="128399" rIns="128399" bIns="12839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Have you ever waited a long time for the bus, then three buses arrive at once? This is known as bus bunching.</a:t>
          </a:r>
        </a:p>
      </dsp:txBody>
      <dsp:txXfrm>
        <a:off x="1401272" y="518"/>
        <a:ext cx="5543224" cy="1213222"/>
      </dsp:txXfrm>
    </dsp:sp>
    <dsp:sp modelId="{CD79A06A-6806-41EA-9A31-3F03FB4535DC}">
      <dsp:nvSpPr>
        <dsp:cNvPr id="0" name=""/>
        <dsp:cNvSpPr/>
      </dsp:nvSpPr>
      <dsp:spPr>
        <a:xfrm>
          <a:off x="0" y="1517047"/>
          <a:ext cx="6944497" cy="12132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4D794-678F-4B50-91BE-E44C3DB66DE9}">
      <dsp:nvSpPr>
        <dsp:cNvPr id="0" name=""/>
        <dsp:cNvSpPr/>
      </dsp:nvSpPr>
      <dsp:spPr>
        <a:xfrm>
          <a:off x="366999" y="1790022"/>
          <a:ext cx="667272" cy="667272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C7C36-AAF5-4B64-BD12-033D8331EC45}">
      <dsp:nvSpPr>
        <dsp:cNvPr id="0" name=""/>
        <dsp:cNvSpPr/>
      </dsp:nvSpPr>
      <dsp:spPr>
        <a:xfrm>
          <a:off x="1401272" y="1517047"/>
          <a:ext cx="5543224" cy="1213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99" tIns="128399" rIns="128399" bIns="12839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Bus bunching is one of the most common and costly reliability failures in urban transit systems.</a:t>
          </a:r>
        </a:p>
      </dsp:txBody>
      <dsp:txXfrm>
        <a:off x="1401272" y="1517047"/>
        <a:ext cx="5543224" cy="1213222"/>
      </dsp:txXfrm>
    </dsp:sp>
    <dsp:sp modelId="{7A5501CC-F087-4D62-BB62-3DD1D82628DD}">
      <dsp:nvSpPr>
        <dsp:cNvPr id="0" name=""/>
        <dsp:cNvSpPr/>
      </dsp:nvSpPr>
      <dsp:spPr>
        <a:xfrm>
          <a:off x="0" y="3033575"/>
          <a:ext cx="6944497" cy="12132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8BEDF-8993-4A24-AD71-2CBDDAD11A29}">
      <dsp:nvSpPr>
        <dsp:cNvPr id="0" name=""/>
        <dsp:cNvSpPr/>
      </dsp:nvSpPr>
      <dsp:spPr>
        <a:xfrm>
          <a:off x="366999" y="3306550"/>
          <a:ext cx="667272" cy="667272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3CF27-DC7C-47E0-B7A6-DFB70622C5BC}">
      <dsp:nvSpPr>
        <dsp:cNvPr id="0" name=""/>
        <dsp:cNvSpPr/>
      </dsp:nvSpPr>
      <dsp:spPr>
        <a:xfrm>
          <a:off x="1401272" y="3033575"/>
          <a:ext cx="5543224" cy="1213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99" tIns="128399" rIns="128399" bIns="12839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It increases passenger wait times and overcrowds some buses while others run empty.</a:t>
          </a:r>
        </a:p>
      </dsp:txBody>
      <dsp:txXfrm>
        <a:off x="1401272" y="3033575"/>
        <a:ext cx="5543224" cy="1213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3:50.4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9,'45'0,"-10"0,-23 0,-4 0,14 0,-10 0,10 0,-7 0,-5 0,13 0,-10 0,7 0,-4 0,-3 0,9 0,-8 0,6 0,-5 0,1 0,-2 0,8 0,-12 0,9 0,-3 3,-3-2,6 3,-6-4,3 0,0 0,0 0,0 0,0 0,0 0,1 0,-1 0,0 3,0-2,4 3,-7-4,6 0,-7 0,5 0,-1-4,3 3,-5-2,8 3,-12 0,9 0,-3 0,-3 0,10 0,-13 0,9 0,0 0,-4 0,3 0,-2-4,-3 3,10-3,-9 4,1 0,0 0,-1-3,5-2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3:53.0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17,'46'0,"-8"0,-27 0,-2 0,14 0,-13 0,9 0,-3 0,-3 0,7 0,-4 0,-4 0,7 0,-5 0,2 0,3 0,-6 0,3 0,3 0,-9 0,12 0,-8 0,2 0,3 0,-2 0,3 0,-4 0,-1 0,-2 0,7 0,-7 0,6-4,-6 3,3-2,3 3,-5 0,5 0,-7 0,4 0,0 0,0 0,1 0,-1 0,0 3,4-2,-7 3,6-4,-7 0,4 0,1 0,2-4,-5 3,5-2,-7 3,24 0,-15 0,11 0,-21-4,-3 3,11-3,-5 8,6-3,-5 2,-2-3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3:56.7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65,'47'-8,"3"3,-32-2,16 6,-16-6,16 1,-20 1,10-1,-15 6,6-3,1 2,-2-3,5 4,-7 0,4 4,0-3,1 2,-1-3,0 0,0 0,0 0,0 0,4 0,-7 0,15 0,-14 0,8 0,-7-3,-3 2,5-3,11 4,-12 0,7 0,-11 0,9-5,-2 3,2-3,-6 5,-2 0,3 0,0 0,0 0,0 0,0 4,0-3,0 6,0-6,1 2,2 1,-5-3,5 6,-7-6,4 6,0-3,4 4,-7-3,6-1,-3 3,1-6,0 10,-2-6,-3-1,4 0,1-4,-1 0,0 3,0-2,0 6,0-6,4 3,-3-1,-1-2,-1 3,-2-4,3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3:59.3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22,'62'11,"-9"-3,-37-8,0 0,4 0,-6 0,4 0,-5 0,14-4,-12 4,11-8,-17 7,6-6,1 6,-2-2,5 3,-3-4,1 3,2-6,-6 6,2-3,5 4,-6 0,9 0,-7 0,-3 0,6 0,-6 0,6 0,-2 0,-1 0,0 0,0 0,-3 0,10 0,-10 0,3 0,3 0,-9 0,9 4,-3-3,-3 2,6-3,-7 4,5 0,-1 1,0-2,0-3,0 0,0 0,0 0,0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4:01.6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95,'50'-10,"0"1,33-7,-67 16,25 0,7 0,26 0,1-8,-17 6,-5-7,-26 9,-6 0,-13-3,10 2,-4-3,11 0,-6 3,-3-2,0 3,1 0,-1 0,0 0,0 0,0 0,0 0,0 0,0 0,4 0,-6 0,8 0,-12 0,9-4,-3 3,4-2,-3 3,-1-4,-1 3,-2-3,7 4,-4 0,0 0,0 0,0-3,13 2,-14-3,13 4,-19 0,6 0,1 0,-2 0,4 0,-5 0,3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4:04.8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0,'63'9,"-21"-2,-11-3,-18-3,-1 2,7 1,-6-3,3 3,3-4,-9 3,9-2,1 3,-6-4,8 0,-9 0,3 0,0 0,0 0,0 0,1 0,2 0,-2 0,-1 0,0 0,0 0,-3 0,6 3,1-2,-6 3,5-4,-4 0,11 0,-7 0,8 0,-18 0,7 0,0 0,-3 0,6 0,-3 0,-2 0,4 0,-2 0,-2 0,5 0,-7 0,4 0,0-4,11 3,-8-3,8 1,-2-3,-10 1,5-1,-9 3,14-3,-9 1,8-1,-16 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4:07.6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26,'62'0,"-1"0,30 0,-43 0,-27 0,-10 0,2 0,10 0,19 0,-12 0,10 0,-27 0,-1 0,6-4,-7-1,12-3,-11 4,1 0,5 4,-4 0,2 0,3 0,-9 0,9 4,-3 0,-3 1,6-2,-7-3,5-4,2 4,-5-4,4 4,-5 0,7 0,-7 0,6 0,-6 0,3 0,0 0,0 0,0-4,0 3,0-2,0 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4:09.2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37,'71'0,"-7"0,-11 0,38 0,-7 0,-29 0,-1 0,21 0,0 0,-17 0,-14 0,-15-4,-16 3,2-3,1 1,-3-2,7 1,40 0,-9-1,24 4,-32-5,-18 6,-13 0,4 0,16 0,-11 0,40 0,-42 0,23 0,-33 0,3 0,-4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4:13.9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1,'55'11,"1"0,-1-3,-9 0,-20 1,10-3,-9 1,-2 2,7-8,-12 2,8-3,-16 0,-1 0,9 0,-2 0,5 0,-6 0,7 0,-5 0,5 0,-8 0,1 0,2-3,-5 2,8-3,-12 4,9 0,0 0,-1 0,2 0,-5 0,-2 0,7 0,-7 0,6 0,-7 0,4 0,1 0,-1 0,0 0,4 0,-7 0,6 0,-7 0,17 0,-14 0,9-4,-12 3,0-2,17 3,-14 0,13-4,-19 3,6-6,1 6,-2-6,4 2,-5 1,3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4:18.1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9,'62'0,"-12"0,-35 0,-6-4,10 3,-6-2,3 3,3 0,-9 0,9 0,-3 0,-3 0,6 0,-6 0,7 0,-7 0,6 3,-3-2,1 3,-1-4,-1 0,1 0,-2 0,8 0,-12 0,9 0,1 0,-6 0,8 0,-9 0,3 0,0 0,0 3,0-2,0 3,1-4,-1 0,0 0,0 0,0 3,0-2,4 3,-7-4,6 0,-6 0,3 0,0 0,0 3,0-2,0 3,0-4,1 0,-1 0,0 0,0 0,0 0,0 3,4-2,-7 3,6-4,-6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4:21.3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0,'41'0,"-6"0,-23 4,0-3,11 6,4-6,-2 3,25-4,-19 0,11 0,-17 0,-12 0,2 0,5 7,-2-2,13 3,-16-4,9-4,-11 3,-1-2,14 3,-2 1,5-4,-8 5,-6-6,-2 0,3 0,0 0,4 0,-7 0,10 3,-13-2,8 3,-1-4,-4 3,6-2,-7 3,8-1,-7-2,15 3,-17-4,9 0,-4 0,-7 0,14 0,-10 0,3 0,3 0,-9-4,9 3,-3-2,1 3,3 0,-4 0,0 0,4 0,-7 0,6 0,-3 0,-3 0,6 0,-6 0,3 0,0 0,0 0,4 0,-7 0,6 0,-6 0,3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4:27.1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29,'54'5,"0"0,32 0,-53 0,-6-5,0 0,-2 0,-13 0,4 0,0 0,1 0,2 0,-6 0,2 0,1 0,1 0,-1 0,0 0,-4 0,4-4,0 3,1-2,-1 3,0 0,0 0,0 0,0 0,0 0,4 0,-7 0,15-6,-17 5,13-8,-8 8,-3-2,18 3,-15 0,9 0,-10 0,-2-4,3 3,3-3,-5 4,5 4,-7-3,4 3,0-4,1 3,-1-2,12-6,-9 2,6-9,-13 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06:04:28.5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0,'83'11,"0"-1,4 2,0-1,-11-4,2-1,-9 2,4 1,-4-3,7-4,-2-1,2 5,-8 0,-15-1,-26-4,-6 4,-9-5,3 0,-2 0,7 0,0 0,-7 0,6 0,-7-3,5-2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AC40-F51A-212E-AD50-2D2F1189A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05115-D88B-3D48-93AF-B1B86FC06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AC55E-F1D5-C760-6EF8-91F32260B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A520-32E3-9743-A2CC-1FB76CEEF96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E81E1-404B-FA9C-DF87-4C39F2186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22C92-D5F0-3E2B-2DAF-A16E4751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B8C9F-575F-8743-B28A-1332FB5C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6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EE6D-B1C5-8C14-0B94-FA9D199FA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19156-615E-87E3-8929-7EA76B55D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34F4E-A2BE-44A0-2D84-500EE588E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A520-32E3-9743-A2CC-1FB76CEEF96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42F4B-5CB3-DC0D-35EB-53DD6990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6E02E-00FC-D1E1-6573-488D2427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B8C9F-575F-8743-B28A-1332FB5C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4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4ED8-38F8-4C61-A718-78029ED5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6BABF-7AEC-4A1D-D9C4-815AE869C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0D052-14E4-EAE7-B361-6FD9CCD2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A520-32E3-9743-A2CC-1FB76CEEF96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55BE8-F25F-0811-8A84-BC6A8A14D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2BC13-9C9A-123E-A379-BEC21E0EA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B8C9F-575F-8743-B28A-1332FB5C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66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34723-DA5E-0958-6A6A-CEDAA6249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DA17E-6AF7-25E6-8DBE-F895A6081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B186C-2B38-6DF0-5996-6FE873A48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B7509-DBA5-E6F3-DD6D-08D3F2F1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A520-32E3-9743-A2CC-1FB76CEEF96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8729A-16B8-365E-43F2-FF0ED1D0B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50223-52A2-8161-3DC3-2BF02897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B8C9F-575F-8743-B28A-1332FB5C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62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A5234-F57B-9684-8A1A-427CA9847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7CF28-3702-F6DB-F8B3-C6CD9B88F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EB0C5-7428-15E8-E991-781991C47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2C8642-81C3-05FC-1949-0556F2191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2D0B9-5A38-60D8-0544-F2E7969E8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E6382-45CF-D22D-A210-36726FC5B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A520-32E3-9743-A2CC-1FB76CEEF96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BE7E03-2BDE-0165-6399-BE7624B9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A93070-A16B-85D5-44FA-116B9932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B8C9F-575F-8743-B28A-1332FB5C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34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383A1-856E-AD0C-37B2-AD34E9902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83A53C-8C0D-26BE-B608-90C2B5B78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A520-32E3-9743-A2CC-1FB76CEEF96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04923-01E1-10ED-DD83-01BC40B1C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88283-3FE9-A46D-B112-EEF11838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B8C9F-575F-8743-B28A-1332FB5C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38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8304E4-D713-1846-8A4F-7C83E66B0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A520-32E3-9743-A2CC-1FB76CEEF96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4DBC8-38DC-F945-44A2-E31C9EA3D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41178-A64D-DCE7-E2DB-6CA5227E1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B8C9F-575F-8743-B28A-1332FB5C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10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0AC7-E28B-982A-1976-57EDDB7E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A77A-1C84-D506-0744-DFE5175FF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36E85-B13E-786B-1A5A-9C6A2BBC1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0901A-F9DE-D189-8266-16F7D717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A520-32E3-9743-A2CC-1FB76CEEF96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DB783-7D47-6B54-47B7-10300C26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8F612-6B11-6BC1-17FD-079812D0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B8C9F-575F-8743-B28A-1332FB5C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97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BEFE5-86D9-B78A-F901-F73D11F9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C1FC8-A87A-8BA3-BDFC-B45B71A95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4D046-9EE7-9D5C-3C58-17905F524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38BB1-B3DD-F62F-F6C7-6394095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A520-32E3-9743-A2CC-1FB76CEEF96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D777F-4DE1-222A-6B66-F0836FAF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C6B44-5602-1E5A-B083-3197E300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B8C9F-575F-8743-B28A-1332FB5C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90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FF3B9-9A57-8604-B7BF-EA64E5B1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80F26-0C97-2C5D-CA36-9999C60F6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B1321-C957-6430-6E36-B11772B4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A520-32E3-9743-A2CC-1FB76CEEF96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DAC92-BA01-0464-D0B1-76ACC1232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E7F92-8FB4-5889-470B-0290BD0B7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B8C9F-575F-8743-B28A-1332FB5C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478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553462-5496-F21F-925C-F506339975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95B44-697E-1D11-CD91-5055CA30B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65327-E373-E365-0A20-08AAD9CD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A520-32E3-9743-A2CC-1FB76CEEF96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F44-27E0-8132-762B-70FACABD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26B19-B0BC-E5AC-2745-22C28BE83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B8C9F-575F-8743-B28A-1332FB5C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07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A1484C-FE0D-B42B-0842-0FE1C1115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301EB-D16D-2B19-28A5-EADCD3FFA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FDA44-4E91-DAC7-C4D1-078E1F9D0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8A520-32E3-9743-A2CC-1FB76CEEF96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FFD5B-ABDD-433D-A55B-389C8F3063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CC02E-665A-1F12-267F-E79CF1760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FB8C9F-575F-8743-B28A-1332FB5C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27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6.xml"/><Relationship Id="rId18" Type="http://schemas.openxmlformats.org/officeDocument/2006/relationships/image" Target="../media/image24.png"/><Relationship Id="rId26" Type="http://schemas.openxmlformats.org/officeDocument/2006/relationships/image" Target="../media/image28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2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ustomXml" Target="../ink/ink5.xml"/><Relationship Id="rId24" Type="http://schemas.openxmlformats.org/officeDocument/2006/relationships/image" Target="../media/image27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9.png"/><Relationship Id="rId10" Type="http://schemas.openxmlformats.org/officeDocument/2006/relationships/image" Target="../media/image20.png"/><Relationship Id="rId19" Type="http://schemas.openxmlformats.org/officeDocument/2006/relationships/customXml" Target="../ink/ink9.xml"/><Relationship Id="rId4" Type="http://schemas.openxmlformats.org/officeDocument/2006/relationships/image" Target="../media/image17.png"/><Relationship Id="rId9" Type="http://schemas.openxmlformats.org/officeDocument/2006/relationships/customXml" Target="../ink/ink4.xml"/><Relationship Id="rId14" Type="http://schemas.openxmlformats.org/officeDocument/2006/relationships/image" Target="../media/image22.png"/><Relationship Id="rId22" Type="http://schemas.openxmlformats.org/officeDocument/2006/relationships/image" Target="../media/image26.png"/><Relationship Id="rId27" Type="http://schemas.openxmlformats.org/officeDocument/2006/relationships/customXml" Target="../ink/ink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ow the MTA Plans to Harness New Technology to Eliminate Bus Bunching -  Streetsblog New York City">
            <a:extLst>
              <a:ext uri="{FF2B5EF4-FFF2-40B4-BE49-F238E27FC236}">
                <a16:creationId xmlns:a16="http://schemas.microsoft.com/office/drawing/2014/main" id="{B27FB71C-EE76-8F13-752F-6BE56A3A5B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035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8DED09-2D3E-1BE4-B77B-AE77DB798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Bus Bunching 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Cross Agency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D90BA-B97D-43FA-5ECF-036A69674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ECO 590</a:t>
            </a:r>
          </a:p>
          <a:p>
            <a:r>
              <a:rPr lang="en-US" dirty="0">
                <a:solidFill>
                  <a:srgbClr val="FFFFFF"/>
                </a:solidFill>
              </a:rPr>
              <a:t>Ahmad Alexander</a:t>
            </a:r>
          </a:p>
        </p:txBody>
      </p:sp>
    </p:spTree>
    <p:extLst>
      <p:ext uri="{BB962C8B-B14F-4D97-AF65-F5344CB8AC3E}">
        <p14:creationId xmlns:p14="http://schemas.microsoft.com/office/powerpoint/2010/main" val="431227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F7F19-E498-EC2A-4C7F-102EE18BE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810"/>
            <a:ext cx="10515600" cy="1325563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5866C-5CB8-8164-8248-43AA69B649EE}"/>
              </a:ext>
            </a:extLst>
          </p:cNvPr>
          <p:cNvSpPr txBox="1"/>
          <p:nvPr/>
        </p:nvSpPr>
        <p:spPr>
          <a:xfrm>
            <a:off x="4942701" y="5441861"/>
            <a:ext cx="6709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Research question:</a:t>
            </a:r>
            <a:r>
              <a:rPr lang="en-US" sz="2400" dirty="0"/>
              <a:t> What route-level and temporal factors predict bus bunching, and do these relationships vary across agencies?</a:t>
            </a:r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059819D2-2E57-6A7E-D9DF-180BA795ED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8661210"/>
              </p:ext>
            </p:extLst>
          </p:nvPr>
        </p:nvGraphicFramePr>
        <p:xfrm>
          <a:off x="4825313" y="1027906"/>
          <a:ext cx="6944497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Content Placeholder 3" descr="A Late is the worst - Imgflip">
            <a:extLst>
              <a:ext uri="{FF2B5EF4-FFF2-40B4-BE49-F238E27FC236}">
                <a16:creationId xmlns:a16="http://schemas.microsoft.com/office/drawing/2014/main" id="{69FE3A05-36FC-5CEB-4199-EE6DA36DD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422189" y="1336655"/>
            <a:ext cx="3987113" cy="539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4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CEF8E-AA98-610C-C8B4-F5E6DF6F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78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Collection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707A3-528A-8ABE-5E9F-28CA73DC4026}"/>
              </a:ext>
            </a:extLst>
          </p:cNvPr>
          <p:cNvSpPr txBox="1"/>
          <p:nvPr/>
        </p:nvSpPr>
        <p:spPr>
          <a:xfrm>
            <a:off x="630936" y="2807208"/>
            <a:ext cx="4164348" cy="3567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GTFS is a universal standard for transit data, every agency uses the same language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Real-time feeds (GTFS-RT) give live vehicle positions, that's where deviation and bunching come from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Main difference across agencies: how nested the data is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WMATA was the cleanest and least nested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4" name="Content Placeholder 3" descr="High Frequency Bus Route Optimization to Avoid Bus Bunching – AnyLogic  Simulation Software">
            <a:extLst>
              <a:ext uri="{FF2B5EF4-FFF2-40B4-BE49-F238E27FC236}">
                <a16:creationId xmlns:a16="http://schemas.microsoft.com/office/drawing/2014/main" id="{7CFB5E69-F9FE-4B9E-9D70-80E199513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703070"/>
            <a:ext cx="6903720" cy="345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00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5AE70B-29FF-1F28-20D9-3FCBD226B3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208" y="1334732"/>
            <a:ext cx="11951584" cy="41885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B07EB8-EE86-94F3-21EA-7544F32EF331}"/>
              </a:ext>
            </a:extLst>
          </p:cNvPr>
          <p:cNvSpPr txBox="1"/>
          <p:nvPr/>
        </p:nvSpPr>
        <p:spPr>
          <a:xfrm>
            <a:off x="2923953" y="478465"/>
            <a:ext cx="3062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Outer main loop hold all 3 agencies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D1DC9C-8E36-653A-942E-0C6A0DFCA9A0}"/>
              </a:ext>
            </a:extLst>
          </p:cNvPr>
          <p:cNvCxnSpPr>
            <a:stCxn id="6" idx="1"/>
          </p:cNvCxnSpPr>
          <p:nvPr/>
        </p:nvCxnSpPr>
        <p:spPr>
          <a:xfrm flipH="1">
            <a:off x="1293692" y="801631"/>
            <a:ext cx="1630261" cy="747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7756177-AB77-B86A-1EAE-933D1DB5342F}"/>
              </a:ext>
            </a:extLst>
          </p:cNvPr>
          <p:cNvSpPr txBox="1"/>
          <p:nvPr/>
        </p:nvSpPr>
        <p:spPr>
          <a:xfrm>
            <a:off x="7899991" y="1334732"/>
            <a:ext cx="265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Loops through the the specified routes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98A7FA-F311-C1CA-6218-1642237C685C}"/>
              </a:ext>
            </a:extLst>
          </p:cNvPr>
          <p:cNvCxnSpPr/>
          <p:nvPr/>
        </p:nvCxnSpPr>
        <p:spPr>
          <a:xfrm flipH="1">
            <a:off x="3944679" y="1679944"/>
            <a:ext cx="3923414" cy="691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CD57EF-0266-248B-2E29-5ED3815BA2BF}"/>
              </a:ext>
            </a:extLst>
          </p:cNvPr>
          <p:cNvSpPr txBox="1"/>
          <p:nvPr/>
        </p:nvSpPr>
        <p:spPr>
          <a:xfrm>
            <a:off x="7899991" y="2190999"/>
            <a:ext cx="988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API call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207756-A1B9-6C7E-FB0E-67A2715BAB05}"/>
              </a:ext>
            </a:extLst>
          </p:cNvPr>
          <p:cNvCxnSpPr/>
          <p:nvPr/>
        </p:nvCxnSpPr>
        <p:spPr>
          <a:xfrm flipH="1">
            <a:off x="7081284" y="2371060"/>
            <a:ext cx="786809" cy="212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6BA43F8-0C1C-EF1A-57B9-8743170D0D27}"/>
              </a:ext>
            </a:extLst>
          </p:cNvPr>
          <p:cNvSpPr txBox="1"/>
          <p:nvPr/>
        </p:nvSpPr>
        <p:spPr>
          <a:xfrm>
            <a:off x="7485321" y="3003169"/>
            <a:ext cx="4586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Where vehicle data lived, not very nested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2CEB29-8860-C518-88EF-59B77D283082}"/>
              </a:ext>
            </a:extLst>
          </p:cNvPr>
          <p:cNvCxnSpPr/>
          <p:nvPr/>
        </p:nvCxnSpPr>
        <p:spPr>
          <a:xfrm flipH="1" flipV="1">
            <a:off x="6209414" y="2913321"/>
            <a:ext cx="1275907" cy="276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817B86-5FB4-3F1B-DBF3-B9FEFF209796}"/>
              </a:ext>
            </a:extLst>
          </p:cNvPr>
          <p:cNvSpPr txBox="1"/>
          <p:nvPr/>
        </p:nvSpPr>
        <p:spPr>
          <a:xfrm>
            <a:off x="8888819" y="3479355"/>
            <a:ext cx="3519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Pulled only the fields I needed and renamed them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BF8FCF-AF5A-374B-E2C6-D1258817F2A6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7102549" y="3559722"/>
            <a:ext cx="1786270" cy="212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C16671B-CE82-CA96-5ACB-D3479D9F43EF}"/>
              </a:ext>
            </a:extLst>
          </p:cNvPr>
          <p:cNvSpPr txBox="1"/>
          <p:nvPr/>
        </p:nvSpPr>
        <p:spPr>
          <a:xfrm>
            <a:off x="8444170" y="5236856"/>
            <a:ext cx="3795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Appended each pull to the same CSV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E64D7D-C79B-6611-5D22-9E92FA598CA3}"/>
              </a:ext>
            </a:extLst>
          </p:cNvPr>
          <p:cNvCxnSpPr/>
          <p:nvPr/>
        </p:nvCxnSpPr>
        <p:spPr>
          <a:xfrm flipH="1" flipV="1">
            <a:off x="6209414" y="5007935"/>
            <a:ext cx="2184991" cy="393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4D458E2-D4C3-80BE-FD20-C6B8550E5D3C}"/>
              </a:ext>
            </a:extLst>
          </p:cNvPr>
          <p:cNvSpPr txBox="1"/>
          <p:nvPr/>
        </p:nvSpPr>
        <p:spPr>
          <a:xfrm>
            <a:off x="2708571" y="5575410"/>
            <a:ext cx="3147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WMATA fails, the loop doesn't crash, it just prints the error and moves on to the next agency.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0D1C6C-7623-B406-8041-980005A48C9A}"/>
              </a:ext>
            </a:extLst>
          </p:cNvPr>
          <p:cNvCxnSpPr>
            <a:stCxn id="25" idx="1"/>
          </p:cNvCxnSpPr>
          <p:nvPr/>
        </p:nvCxnSpPr>
        <p:spPr>
          <a:xfrm flipH="1" flipV="1">
            <a:off x="1180214" y="5204637"/>
            <a:ext cx="1528357" cy="786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92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B22BF-8A80-FC79-78D4-2EC5B12BC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77686"/>
            <a:ext cx="5791200" cy="5099277"/>
          </a:xfrm>
        </p:spPr>
        <p:txBody>
          <a:bodyPr>
            <a:normAutofit/>
          </a:bodyPr>
          <a:lstStyle/>
          <a:p>
            <a:r>
              <a:rPr lang="en-US" dirty="0"/>
              <a:t>GTFS static is the scheduled timetable</a:t>
            </a:r>
          </a:p>
          <a:p>
            <a:pPr lvl="1"/>
            <a:r>
              <a:rPr lang="en-US" dirty="0"/>
              <a:t> Stop times, trip IDs, headway, deviation</a:t>
            </a:r>
          </a:p>
          <a:p>
            <a:r>
              <a:rPr lang="en-US" dirty="0"/>
              <a:t>Needed it to compute: scheduled headway, schedule deviation, timepoint rate, headway CV</a:t>
            </a:r>
          </a:p>
          <a:p>
            <a:r>
              <a:rPr lang="en-US" dirty="0"/>
              <a:t>MTA was the hardest, GTFS split across four borough zip files, route ID prefix mismatch</a:t>
            </a:r>
          </a:p>
        </p:txBody>
      </p:sp>
      <p:pic>
        <p:nvPicPr>
          <p:cNvPr id="4" name="Picture 3" descr="Create - General Transit Feed Specification">
            <a:extLst>
              <a:ext uri="{FF2B5EF4-FFF2-40B4-BE49-F238E27FC236}">
                <a16:creationId xmlns:a16="http://schemas.microsoft.com/office/drawing/2014/main" id="{D092A925-6B19-B825-950D-16E2664FC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3494"/>
            <a:ext cx="6345880" cy="365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2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A4505A-A226-E23E-0475-0241DE703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59" y="1303637"/>
            <a:ext cx="12076482" cy="4250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F3898B-8CC3-CA2B-CCBB-45FDD4E86860}"/>
              </a:ext>
            </a:extLst>
          </p:cNvPr>
          <p:cNvSpPr txBox="1"/>
          <p:nvPr/>
        </p:nvSpPr>
        <p:spPr>
          <a:xfrm>
            <a:off x="6096000" y="468086"/>
            <a:ext cx="4539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MTA splits their static schedule across four separate files by borough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BD911C-B966-D84D-B584-0EEF2C2BC4C4}"/>
              </a:ext>
            </a:extLst>
          </p:cNvPr>
          <p:cNvCxnSpPr>
            <a:stCxn id="6" idx="1"/>
          </p:cNvCxnSpPr>
          <p:nvPr/>
        </p:nvCxnSpPr>
        <p:spPr>
          <a:xfrm flipH="1">
            <a:off x="1034143" y="760474"/>
            <a:ext cx="5061857" cy="872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66DEFA-BF5B-A2D8-FEC2-7070A88A3376}"/>
              </a:ext>
            </a:extLst>
          </p:cNvPr>
          <p:cNvSpPr txBox="1"/>
          <p:nvPr/>
        </p:nvSpPr>
        <p:spPr>
          <a:xfrm>
            <a:off x="6749144" y="2569028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Loops through each borough, downloads the zip, saves it, and stores it in a dictionary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217C0E-9637-CD09-8071-9C01FB3529B0}"/>
              </a:ext>
            </a:extLst>
          </p:cNvPr>
          <p:cNvCxnSpPr/>
          <p:nvPr/>
        </p:nvCxnSpPr>
        <p:spPr>
          <a:xfrm flipH="1">
            <a:off x="5355771" y="2841171"/>
            <a:ext cx="1360715" cy="195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A3DD4F9-B42C-F141-1CCF-47B63BD42477}"/>
              </a:ext>
            </a:extLst>
          </p:cNvPr>
          <p:cNvSpPr txBox="1"/>
          <p:nvPr/>
        </p:nvSpPr>
        <p:spPr>
          <a:xfrm>
            <a:off x="6593412" y="3153803"/>
            <a:ext cx="5540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Fail/safe - makes sure the download actually went through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A2603D-EEF6-EAF1-4329-086045B95AD3}"/>
              </a:ext>
            </a:extLst>
          </p:cNvPr>
          <p:cNvCxnSpPr/>
          <p:nvPr/>
        </p:nvCxnSpPr>
        <p:spPr>
          <a:xfrm flipH="1">
            <a:off x="4550229" y="3323080"/>
            <a:ext cx="2043183" cy="169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14F9374-62D4-F83A-8C6C-8CEA07C7D846}"/>
              </a:ext>
            </a:extLst>
          </p:cNvPr>
          <p:cNvSpPr txBox="1"/>
          <p:nvPr/>
        </p:nvSpPr>
        <p:spPr>
          <a:xfrm>
            <a:off x="8120743" y="3938584"/>
            <a:ext cx="4071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Where the actual schedule data lives, combine from each borough for each field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9555F9-252A-3328-EF7F-D956DF85239B}"/>
              </a:ext>
            </a:extLst>
          </p:cNvPr>
          <p:cNvCxnSpPr/>
          <p:nvPr/>
        </p:nvCxnSpPr>
        <p:spPr>
          <a:xfrm flipH="1">
            <a:off x="5693229" y="4191000"/>
            <a:ext cx="2416628" cy="413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FFD4B7D-331C-50B9-A0C1-EBA8D4D93E6C}"/>
              </a:ext>
            </a:extLst>
          </p:cNvPr>
          <p:cNvSpPr txBox="1"/>
          <p:nvPr/>
        </p:nvSpPr>
        <p:spPr>
          <a:xfrm>
            <a:off x="5116286" y="5563513"/>
            <a:ext cx="32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Used to map each trip ID to which days of the week it runs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E7671EC-7382-6594-9915-D1AB64E5879C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1208314" y="5162575"/>
            <a:ext cx="3907972" cy="693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CF4D4A9-EAA0-4D20-03ED-D8E4BC3EA7D5}"/>
              </a:ext>
            </a:extLst>
          </p:cNvPr>
          <p:cNvSpPr txBox="1"/>
          <p:nvPr/>
        </p:nvSpPr>
        <p:spPr>
          <a:xfrm>
            <a:off x="117630" y="6012881"/>
            <a:ext cx="5344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Has scheduled arrival time at each stop for every trip, which is what I used to compute scheduled headway and schedule deviation.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20970A7-D133-10F1-723E-B6DE48885CD5}"/>
              </a:ext>
            </a:extLst>
          </p:cNvPr>
          <p:cNvCxnSpPr/>
          <p:nvPr/>
        </p:nvCxnSpPr>
        <p:spPr>
          <a:xfrm flipH="1" flipV="1">
            <a:off x="664029" y="5421086"/>
            <a:ext cx="674914" cy="591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159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D97211E-E9B5-441B-5BB9-A60C73FB4CF4}"/>
              </a:ext>
            </a:extLst>
          </p:cNvPr>
          <p:cNvSpPr txBox="1"/>
          <p:nvPr/>
        </p:nvSpPr>
        <p:spPr>
          <a:xfrm>
            <a:off x="304800" y="174171"/>
            <a:ext cx="54864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Scheduled Headway</a:t>
            </a:r>
            <a:r>
              <a:rPr lang="en-US" sz="2000" dirty="0"/>
              <a:t> — Planned time between consecutive trips on the same route, averages 12 minutes.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Headway Deviation</a:t>
            </a:r>
            <a:r>
              <a:rPr lang="en-US" sz="2000" dirty="0"/>
              <a:t> — How many minutes early or late per vehicle obs. Diff between scheduled and live stop times.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Peak Hour</a:t>
            </a:r>
            <a:r>
              <a:rPr lang="en-US" sz="2000" dirty="0"/>
              <a:t> — Binary flag for morning/evening peak. About half of </a:t>
            </a:r>
            <a:r>
              <a:rPr lang="en-US" sz="2000" dirty="0" err="1"/>
              <a:t>obs</a:t>
            </a:r>
            <a:r>
              <a:rPr lang="en-US" sz="2000" dirty="0"/>
              <a:t> in peak periods.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Bunching</a:t>
            </a:r>
            <a:r>
              <a:rPr lang="en-US" sz="2000" dirty="0"/>
              <a:t> — Binary variable equal to 1 when two buses are less than half the scheduled headway apart in time, meaning they are too close together. About 26% of observations are bunching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Timepoint Rate</a:t>
            </a:r>
            <a:r>
              <a:rPr lang="en-US" sz="2000" dirty="0"/>
              <a:t> — Timepoints are designated stops where buses must hit exact scheduled times. This variable measures the share of a route's stops that are timepoints.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Headway CV</a:t>
            </a:r>
            <a:r>
              <a:rPr lang="en-US" sz="2000" dirty="0"/>
              <a:t> — Standard deviation of headway divided by the mean. Measures how consistent trip spacing is throughout the day.</a:t>
            </a:r>
          </a:p>
        </p:txBody>
      </p:sp>
      <p:pic>
        <p:nvPicPr>
          <p:cNvPr id="9" name="Picture 8" descr="So This Is Canada: 12 Unguarded Observations of a Returning Canadian –  Breaking Moulds">
            <a:extLst>
              <a:ext uri="{FF2B5EF4-FFF2-40B4-BE49-F238E27FC236}">
                <a16:creationId xmlns:a16="http://schemas.microsoft.com/office/drawing/2014/main" id="{AA3ADE4E-DAB6-36E6-A4AA-C0908E94E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22" y="3989349"/>
            <a:ext cx="3653950" cy="27404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2C12E1-8877-D63B-8AC6-099E969B8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505378"/>
            <a:ext cx="6149923" cy="315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66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CB198-CE6A-38D5-505C-FE68D7111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01" y="5494057"/>
            <a:ext cx="11801019" cy="1018572"/>
          </a:xfrm>
        </p:spPr>
        <p:txBody>
          <a:bodyPr>
            <a:normAutofit lnSpcReduction="10000"/>
          </a:bodyPr>
          <a:lstStyle/>
          <a:p>
            <a:r>
              <a:rPr lang="en-US" sz="1600" b="1" dirty="0"/>
              <a:t>MTA has the highest bunching rate at 29.6%, followed by MBTA at 27.3% and WMATA at 20.1%, meaningful variation across agencies</a:t>
            </a:r>
          </a:p>
          <a:p>
            <a:r>
              <a:rPr lang="en-US" sz="1600" b="1" dirty="0"/>
              <a:t>Bunching drops from 36–39% on high-frequency routes to under 5% on low frequency routes, consistent across all three agencies, suggesting scheduled headway is a structural predictor of bunching.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B013D3-1BDC-9C3C-A13F-9928352C3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01" y="699701"/>
            <a:ext cx="11928197" cy="442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0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E44840-83A2-1DB9-A7B0-D44417DA9B28}"/>
              </a:ext>
            </a:extLst>
          </p:cNvPr>
          <p:cNvSpPr txBox="1"/>
          <p:nvPr/>
        </p:nvSpPr>
        <p:spPr>
          <a:xfrm>
            <a:off x="1626964" y="6006764"/>
            <a:ext cx="89380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MBTA: Widest spread extending into negative territory, more early buses than the other two agencies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MTA: Bulges most on the positive side, latest on average with the highest variance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WMATA: Narrowest and most centered, buses run consistently close to on time with the least variance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196C6E2-9B35-CB9B-B854-E785522F5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6964" y="85293"/>
            <a:ext cx="8938069" cy="592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75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CB8336A-5531-F594-A2C9-01B31ABAC8B6}"/>
              </a:ext>
            </a:extLst>
          </p:cNvPr>
          <p:cNvSpPr txBox="1"/>
          <p:nvPr/>
        </p:nvSpPr>
        <p:spPr>
          <a:xfrm>
            <a:off x="297083" y="5903893"/>
            <a:ext cx="115978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- MBTA has low timepoint rates but high CV</a:t>
            </a:r>
          </a:p>
          <a:p>
            <a:r>
              <a:rPr lang="en-US" sz="1400" b="1" dirty="0"/>
              <a:t>- WMATA clusters at the bottom, more consistent headways - suggesting more timepoints does correlate with better spacing</a:t>
            </a:r>
          </a:p>
          <a:p>
            <a:r>
              <a:rPr lang="en-US" sz="1400" b="1" dirty="0"/>
              <a:t>- MTA has the widest spread, bunching is route specific, not system wide</a:t>
            </a:r>
          </a:p>
          <a:p>
            <a:r>
              <a:rPr lang="en-US" sz="1400" b="1" dirty="0"/>
              <a:t>- Overall: Higher timepoint rates are associated with more consistent headways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319C64-8BFD-C468-294D-EC3DEB393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69" y="36580"/>
            <a:ext cx="9852660" cy="586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5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1100A4-815A-4F7A-9D97-37C8D13D9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907644" cy="383997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0D8EA9-7535-C8B1-C1E5-0A1D4E688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11886" y="3758872"/>
            <a:ext cx="8376020" cy="30991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F80174-F7EA-CA43-9859-FA962F9CD9E5}"/>
              </a:ext>
            </a:extLst>
          </p:cNvPr>
          <p:cNvSpPr txBox="1"/>
          <p:nvPr/>
        </p:nvSpPr>
        <p:spPr>
          <a:xfrm>
            <a:off x="6094475" y="194310"/>
            <a:ext cx="5769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When is Bunching the Worst?</a:t>
            </a:r>
          </a:p>
        </p:txBody>
      </p:sp>
      <p:pic>
        <p:nvPicPr>
          <p:cNvPr id="9" name="Picture 8" descr="Why a bus lane might help cars too, in one simple picture – Greater Greater  Washington">
            <a:extLst>
              <a:ext uri="{FF2B5EF4-FFF2-40B4-BE49-F238E27FC236}">
                <a16:creationId xmlns:a16="http://schemas.microsoft.com/office/drawing/2014/main" id="{6D71492A-DCB6-DC63-57D4-E59EA7154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257" y="911840"/>
            <a:ext cx="4169034" cy="234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58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9734AD-452C-D2FC-041C-D09270CD3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464" y="21315"/>
            <a:ext cx="4930606" cy="68153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0843C2-0517-972E-318E-63BA2FD838C6}"/>
                  </a:ext>
                </a:extLst>
              </p14:cNvPr>
              <p14:cNvContentPartPr/>
              <p14:nvPr/>
            </p14:nvContentPartPr>
            <p14:xfrm>
              <a:off x="1451520" y="944010"/>
              <a:ext cx="390600" cy="9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0843C2-0517-972E-318E-63BA2FD838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7880" y="836010"/>
                <a:ext cx="4982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7E2EB69-72C3-55E4-FBC2-CDDD1533A59B}"/>
                  </a:ext>
                </a:extLst>
              </p14:cNvPr>
              <p14:cNvContentPartPr/>
              <p14:nvPr/>
            </p14:nvContentPartPr>
            <p14:xfrm>
              <a:off x="1426680" y="1369530"/>
              <a:ext cx="397440" cy="6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E2EB69-72C3-55E4-FBC2-CDDD1533A5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3040" y="1261530"/>
                <a:ext cx="5050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3A30460-7E5E-C89D-06A9-3E27D7D742A2}"/>
                  </a:ext>
                </a:extLst>
              </p14:cNvPr>
              <p14:cNvContentPartPr/>
              <p14:nvPr/>
            </p14:nvContentPartPr>
            <p14:xfrm>
              <a:off x="1942920" y="3030210"/>
              <a:ext cx="483480" cy="41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3A30460-7E5E-C89D-06A9-3E27D7D742A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89280" y="2922210"/>
                <a:ext cx="5911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F53204B-3FB1-C620-AA33-0A9098033FAA}"/>
                  </a:ext>
                </a:extLst>
              </p14:cNvPr>
              <p14:cNvContentPartPr/>
              <p14:nvPr/>
            </p14:nvContentPartPr>
            <p14:xfrm>
              <a:off x="2653200" y="2655810"/>
              <a:ext cx="338040" cy="15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F53204B-3FB1-C620-AA33-0A9098033F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99560" y="2547810"/>
                <a:ext cx="44568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A2DA9BA-A6A9-7580-BDEB-9D6C6F045266}"/>
                  </a:ext>
                </a:extLst>
              </p14:cNvPr>
              <p14:cNvContentPartPr/>
              <p14:nvPr/>
            </p14:nvContentPartPr>
            <p14:xfrm>
              <a:off x="2596320" y="3004290"/>
              <a:ext cx="461160" cy="34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A2DA9BA-A6A9-7580-BDEB-9D6C6F04526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42320" y="2896290"/>
                <a:ext cx="5688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D2E5C06-3F5F-2054-C10A-F587A23C79E8}"/>
                  </a:ext>
                </a:extLst>
              </p14:cNvPr>
              <p14:cNvContentPartPr/>
              <p14:nvPr/>
            </p14:nvContentPartPr>
            <p14:xfrm>
              <a:off x="3474720" y="3833730"/>
              <a:ext cx="394200" cy="17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D2E5C06-3F5F-2054-C10A-F587A23C79E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20720" y="3725730"/>
                <a:ext cx="5018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E18B3FB-8EA4-1084-3395-4BA5336DED34}"/>
                  </a:ext>
                </a:extLst>
              </p14:cNvPr>
              <p14:cNvContentPartPr/>
              <p14:nvPr/>
            </p14:nvContentPartPr>
            <p14:xfrm>
              <a:off x="3511800" y="971730"/>
              <a:ext cx="345240" cy="9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E18B3FB-8EA4-1084-3395-4BA5336DED3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57800" y="864090"/>
                <a:ext cx="4528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98484AF-F4C7-7B1A-93DF-B9F4425404ED}"/>
                  </a:ext>
                </a:extLst>
              </p14:cNvPr>
              <p14:cNvContentPartPr/>
              <p14:nvPr/>
            </p14:nvContentPartPr>
            <p14:xfrm>
              <a:off x="3450600" y="1344690"/>
              <a:ext cx="474120" cy="13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98484AF-F4C7-7B1A-93DF-B9F4425404E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96960" y="1236690"/>
                <a:ext cx="5817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8575114-62FB-6F0D-4EDC-6ECD6DD7F39B}"/>
                  </a:ext>
                </a:extLst>
              </p14:cNvPr>
              <p14:cNvContentPartPr/>
              <p14:nvPr/>
            </p14:nvContentPartPr>
            <p14:xfrm>
              <a:off x="4383360" y="1787490"/>
              <a:ext cx="444600" cy="270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8575114-62FB-6F0D-4EDC-6ECD6DD7F39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29720" y="1679850"/>
                <a:ext cx="5522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990855D-1C8E-B35F-F9B6-D0BCAAA24F63}"/>
                  </a:ext>
                </a:extLst>
              </p14:cNvPr>
              <p14:cNvContentPartPr/>
              <p14:nvPr/>
            </p14:nvContentPartPr>
            <p14:xfrm>
              <a:off x="4406400" y="2998530"/>
              <a:ext cx="381600" cy="14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990855D-1C8E-B35F-F9B6-D0BCAAA24F6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352760" y="2890890"/>
                <a:ext cx="48924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25EF59E-EF32-A4AD-531D-90816ACB6465}"/>
                  </a:ext>
                </a:extLst>
              </p14:cNvPr>
              <p14:cNvContentPartPr/>
              <p14:nvPr/>
            </p14:nvContentPartPr>
            <p14:xfrm>
              <a:off x="4351680" y="2587050"/>
              <a:ext cx="480240" cy="30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25EF59E-EF32-A4AD-531D-90816ACB646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297680" y="2479050"/>
                <a:ext cx="58788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AF16C80-03C5-A8C9-9C63-03D541C9A055}"/>
                  </a:ext>
                </a:extLst>
              </p14:cNvPr>
              <p14:cNvContentPartPr/>
              <p14:nvPr/>
            </p14:nvContentPartPr>
            <p14:xfrm>
              <a:off x="4410360" y="935370"/>
              <a:ext cx="392760" cy="180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AF16C80-03C5-A8C9-9C63-03D541C9A05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356360" y="827370"/>
                <a:ext cx="50040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83C718A-183F-11D8-4901-6E9D082E4B13}"/>
                  </a:ext>
                </a:extLst>
              </p14:cNvPr>
              <p14:cNvContentPartPr/>
              <p14:nvPr/>
            </p14:nvContentPartPr>
            <p14:xfrm>
              <a:off x="4395600" y="1351530"/>
              <a:ext cx="446760" cy="38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83C718A-183F-11D8-4901-6E9D082E4B1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341600" y="1243530"/>
                <a:ext cx="554400" cy="25416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E06B60F-7E81-AA42-B1B9-EFCB4E677F95}"/>
              </a:ext>
            </a:extLst>
          </p:cNvPr>
          <p:cNvSpPr txBox="1"/>
          <p:nvPr/>
        </p:nvSpPr>
        <p:spPr>
          <a:xfrm>
            <a:off x="5298840" y="474345"/>
            <a:ext cx="667512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Models (1-4)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MTA and WMATA run 2.75–3.0 min late relative to MBTA (significant at 1%)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Adding Route FE: Headway CV, a 0.1 increase → 1.12 min less deviation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Adding Two-way FE: timepoint rate significant at 10%, 10pp increase → 0.42 min less deviation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WMATA interaction: each additional headway minute → 0.106 min less deviation (opposite of MTA/MBTA)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Logit Model (5)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MTA and WMATA +11.3pp and +9.3pp more likely to bunch than MBTA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additional headway minute → 2.2pp lower bunching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10pp increase in timepoint rate → 3.25pp lower bunching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Peak hours → 0.8pp lower bunching (counterintuitive)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0.1 increase in headway CV → 0.31pp lower bunching probability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17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EFEE48-9038-F707-B0F3-513C8D60E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m2-res_720p">
            <a:hlinkClick r:id="" action="ppaction://media"/>
            <a:extLst>
              <a:ext uri="{FF2B5EF4-FFF2-40B4-BE49-F238E27FC236}">
                <a16:creationId xmlns:a16="http://schemas.microsoft.com/office/drawing/2014/main" id="{7BE2BE1E-4FB9-956E-0514-DE9F08A4678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21906" y="813993"/>
            <a:ext cx="5230014" cy="523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24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2439</TotalTime>
  <Words>782</Words>
  <Application>Microsoft Macintosh PowerPoint</Application>
  <PresentationFormat>Widescreen</PresentationFormat>
  <Paragraphs>59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Bus Bunching  Cross Agency Comparison</vt:lpstr>
      <vt:lpstr>Motivation</vt:lpstr>
      <vt:lpstr>Data Collection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Alexander, Ahmad</dc:creator>
  <cp:lastModifiedBy>Alexander, Ahmad</cp:lastModifiedBy>
  <cp:revision>2</cp:revision>
  <dcterms:created xsi:type="dcterms:W3CDTF">2026-05-12T13:42:02Z</dcterms:created>
  <dcterms:modified xsi:type="dcterms:W3CDTF">2026-05-14T06:21:03Z</dcterms:modified>
</cp:coreProperties>
</file>