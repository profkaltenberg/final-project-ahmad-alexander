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4" r:id="rId6"/>
    <p:sldId id="263" r:id="rId7"/>
    <p:sldId id="261" r:id="rId8"/>
    <p:sldId id="268" r:id="rId9"/>
    <p:sldId id="266" r:id="rId10"/>
    <p:sldId id="269" r:id="rId11"/>
    <p:sldId id="262" r:id="rId12"/>
    <p:sldId id="265" r:id="rId13"/>
    <p:sldId id="25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p:scale>
          <a:sx n="112" d="100"/>
          <a:sy n="112" d="100"/>
        </p:scale>
        <p:origin x="1120"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C8A220-52F9-49DF-A6C9-753C06E9C6E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3760176-BAE7-4011-8804-23F7709EFC7A}">
      <dgm:prSet/>
      <dgm:spPr/>
      <dgm:t>
        <a:bodyPr/>
        <a:lstStyle/>
        <a:p>
          <a:pPr>
            <a:lnSpc>
              <a:spcPct val="100000"/>
            </a:lnSpc>
          </a:pPr>
          <a:r>
            <a:rPr lang="en-US"/>
            <a:t>Have you ever waited a long time for the bus, then three buses arrive at once? This is known as bus bunching.</a:t>
          </a:r>
        </a:p>
      </dgm:t>
    </dgm:pt>
    <dgm:pt modelId="{072D0EFD-3466-49BC-88DD-06174112B148}" type="parTrans" cxnId="{FC439BF6-C958-4AFC-99AD-CC7B46EA6322}">
      <dgm:prSet/>
      <dgm:spPr/>
      <dgm:t>
        <a:bodyPr/>
        <a:lstStyle/>
        <a:p>
          <a:endParaRPr lang="en-US"/>
        </a:p>
      </dgm:t>
    </dgm:pt>
    <dgm:pt modelId="{FAD611E3-486B-4209-BAA4-E07FE2F1A09E}" type="sibTrans" cxnId="{FC439BF6-C958-4AFC-99AD-CC7B46EA6322}">
      <dgm:prSet/>
      <dgm:spPr/>
      <dgm:t>
        <a:bodyPr/>
        <a:lstStyle/>
        <a:p>
          <a:endParaRPr lang="en-US"/>
        </a:p>
      </dgm:t>
    </dgm:pt>
    <dgm:pt modelId="{A83155F0-8CBF-4E5C-90DA-446D9D2AEFB7}">
      <dgm:prSet/>
      <dgm:spPr/>
      <dgm:t>
        <a:bodyPr/>
        <a:lstStyle/>
        <a:p>
          <a:pPr>
            <a:lnSpc>
              <a:spcPct val="100000"/>
            </a:lnSpc>
          </a:pPr>
          <a:r>
            <a:rPr lang="en-US"/>
            <a:t>Bus bunching is one of the most common and costly reliability failures in urban transit systems.</a:t>
          </a:r>
        </a:p>
      </dgm:t>
    </dgm:pt>
    <dgm:pt modelId="{F31C86AD-C8F4-4423-BEF7-EA7DBA29AFCA}" type="parTrans" cxnId="{53AD720E-BAD1-433F-A5E8-AD7F30CE25A6}">
      <dgm:prSet/>
      <dgm:spPr/>
      <dgm:t>
        <a:bodyPr/>
        <a:lstStyle/>
        <a:p>
          <a:endParaRPr lang="en-US"/>
        </a:p>
      </dgm:t>
    </dgm:pt>
    <dgm:pt modelId="{DCC8DA98-DBF4-497D-89C9-9C01F7BBEA8D}" type="sibTrans" cxnId="{53AD720E-BAD1-433F-A5E8-AD7F30CE25A6}">
      <dgm:prSet/>
      <dgm:spPr/>
      <dgm:t>
        <a:bodyPr/>
        <a:lstStyle/>
        <a:p>
          <a:endParaRPr lang="en-US"/>
        </a:p>
      </dgm:t>
    </dgm:pt>
    <dgm:pt modelId="{595C1CE5-545E-47CA-B03D-A07596A43E01}">
      <dgm:prSet/>
      <dgm:spPr/>
      <dgm:t>
        <a:bodyPr/>
        <a:lstStyle/>
        <a:p>
          <a:pPr>
            <a:lnSpc>
              <a:spcPct val="100000"/>
            </a:lnSpc>
          </a:pPr>
          <a:r>
            <a:rPr lang="en-US" dirty="0"/>
            <a:t>It increases passenger wait times and overcrowds some buses while others run empty.</a:t>
          </a:r>
        </a:p>
      </dgm:t>
    </dgm:pt>
    <dgm:pt modelId="{59CBE414-14C2-40E8-BB49-5B868F53CE7B}" type="parTrans" cxnId="{1F6E3EF6-D931-48A0-9832-3EF226EA6267}">
      <dgm:prSet/>
      <dgm:spPr/>
      <dgm:t>
        <a:bodyPr/>
        <a:lstStyle/>
        <a:p>
          <a:endParaRPr lang="en-US"/>
        </a:p>
      </dgm:t>
    </dgm:pt>
    <dgm:pt modelId="{70C2BA03-71A3-4FAF-8E23-3BD7DB1516A3}" type="sibTrans" cxnId="{1F6E3EF6-D931-48A0-9832-3EF226EA6267}">
      <dgm:prSet/>
      <dgm:spPr/>
      <dgm:t>
        <a:bodyPr/>
        <a:lstStyle/>
        <a:p>
          <a:endParaRPr lang="en-US"/>
        </a:p>
      </dgm:t>
    </dgm:pt>
    <dgm:pt modelId="{6C946E48-CB16-49B3-8AA7-2690C676DF81}" type="pres">
      <dgm:prSet presAssocID="{64C8A220-52F9-49DF-A6C9-753C06E9C6E6}" presName="root" presStyleCnt="0">
        <dgm:presLayoutVars>
          <dgm:dir/>
          <dgm:resizeHandles val="exact"/>
        </dgm:presLayoutVars>
      </dgm:prSet>
      <dgm:spPr/>
    </dgm:pt>
    <dgm:pt modelId="{FEE724EB-42E8-4B9C-9DC1-1E9D671B0D5F}" type="pres">
      <dgm:prSet presAssocID="{A3760176-BAE7-4011-8804-23F7709EFC7A}" presName="compNode" presStyleCnt="0"/>
      <dgm:spPr/>
    </dgm:pt>
    <dgm:pt modelId="{73BEFD95-4244-41A7-BD07-46AB40954DF0}" type="pres">
      <dgm:prSet presAssocID="{A3760176-BAE7-4011-8804-23F7709EFC7A}" presName="bgRect" presStyleLbl="bgShp" presStyleIdx="0" presStyleCnt="3"/>
      <dgm:spPr/>
    </dgm:pt>
    <dgm:pt modelId="{5F3D80D9-2903-4AE9-87CC-01D3ADFF67C5}" type="pres">
      <dgm:prSet presAssocID="{A3760176-BAE7-4011-8804-23F7709EFC7A}"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us"/>
        </a:ext>
      </dgm:extLst>
    </dgm:pt>
    <dgm:pt modelId="{473540B3-FAB6-475F-839E-91EB9CFE88C8}" type="pres">
      <dgm:prSet presAssocID="{A3760176-BAE7-4011-8804-23F7709EFC7A}" presName="spaceRect" presStyleCnt="0"/>
      <dgm:spPr/>
    </dgm:pt>
    <dgm:pt modelId="{194B4E65-7C7D-496E-990A-09C9F4F1FBA2}" type="pres">
      <dgm:prSet presAssocID="{A3760176-BAE7-4011-8804-23F7709EFC7A}" presName="parTx" presStyleLbl="revTx" presStyleIdx="0" presStyleCnt="3">
        <dgm:presLayoutVars>
          <dgm:chMax val="0"/>
          <dgm:chPref val="0"/>
        </dgm:presLayoutVars>
      </dgm:prSet>
      <dgm:spPr/>
    </dgm:pt>
    <dgm:pt modelId="{FA34F2CA-2AE1-479F-B4C8-A4540799C77F}" type="pres">
      <dgm:prSet presAssocID="{FAD611E3-486B-4209-BAA4-E07FE2F1A09E}" presName="sibTrans" presStyleCnt="0"/>
      <dgm:spPr/>
    </dgm:pt>
    <dgm:pt modelId="{1E4C609E-CBFF-4901-8C82-8A917B426486}" type="pres">
      <dgm:prSet presAssocID="{A83155F0-8CBF-4E5C-90DA-446D9D2AEFB7}" presName="compNode" presStyleCnt="0"/>
      <dgm:spPr/>
    </dgm:pt>
    <dgm:pt modelId="{CD79A06A-6806-41EA-9A31-3F03FB4535DC}" type="pres">
      <dgm:prSet presAssocID="{A83155F0-8CBF-4E5C-90DA-446D9D2AEFB7}" presName="bgRect" presStyleLbl="bgShp" presStyleIdx="1" presStyleCnt="3"/>
      <dgm:spPr/>
    </dgm:pt>
    <dgm:pt modelId="{BAA4D794-678F-4B50-91BE-E44C3DB66DE9}" type="pres">
      <dgm:prSet presAssocID="{A83155F0-8CBF-4E5C-90DA-446D9D2AEFB7}" presName="iconRect" presStyleLbl="node1" presStyleIdx="1" presStyleCnt="3"/>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Train"/>
        </a:ext>
      </dgm:extLst>
    </dgm:pt>
    <dgm:pt modelId="{BC0DAE9C-837F-4D21-BA85-CA8493580661}" type="pres">
      <dgm:prSet presAssocID="{A83155F0-8CBF-4E5C-90DA-446D9D2AEFB7}" presName="spaceRect" presStyleCnt="0"/>
      <dgm:spPr/>
    </dgm:pt>
    <dgm:pt modelId="{2ADC7C36-AAF5-4B64-BD12-033D8331EC45}" type="pres">
      <dgm:prSet presAssocID="{A83155F0-8CBF-4E5C-90DA-446D9D2AEFB7}" presName="parTx" presStyleLbl="revTx" presStyleIdx="1" presStyleCnt="3">
        <dgm:presLayoutVars>
          <dgm:chMax val="0"/>
          <dgm:chPref val="0"/>
        </dgm:presLayoutVars>
      </dgm:prSet>
      <dgm:spPr/>
    </dgm:pt>
    <dgm:pt modelId="{7A51CDA6-C659-44A1-9F77-C9353F54BD84}" type="pres">
      <dgm:prSet presAssocID="{DCC8DA98-DBF4-497D-89C9-9C01F7BBEA8D}" presName="sibTrans" presStyleCnt="0"/>
      <dgm:spPr/>
    </dgm:pt>
    <dgm:pt modelId="{41E598B3-55D1-4F0E-B366-E76C612BFE02}" type="pres">
      <dgm:prSet presAssocID="{595C1CE5-545E-47CA-B03D-A07596A43E01}" presName="compNode" presStyleCnt="0"/>
      <dgm:spPr/>
    </dgm:pt>
    <dgm:pt modelId="{7A5501CC-F087-4D62-BB62-3DD1D82628DD}" type="pres">
      <dgm:prSet presAssocID="{595C1CE5-545E-47CA-B03D-A07596A43E01}" presName="bgRect" presStyleLbl="bgShp" presStyleIdx="2" presStyleCnt="3"/>
      <dgm:spPr/>
    </dgm:pt>
    <dgm:pt modelId="{9728BEDF-8993-4A24-AD71-2CBDDAD11A29}" type="pres">
      <dgm:prSet presAssocID="{595C1CE5-545E-47CA-B03D-A07596A43E01}" presName="iconRect" presStyleLbl="node1" presStyleIdx="2" presStyleCnt="3"/>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dgm:spPr>
      <dgm:extLst>
        <a:ext uri="{E40237B7-FDA0-4F09-8148-C483321AD2D9}">
          <dgm14:cNvPr xmlns:dgm14="http://schemas.microsoft.com/office/drawing/2010/diagram" id="0" name="" descr="Streetcar"/>
        </a:ext>
      </dgm:extLst>
    </dgm:pt>
    <dgm:pt modelId="{8793EF4C-D358-45E9-A7A2-37CF9B0196E5}" type="pres">
      <dgm:prSet presAssocID="{595C1CE5-545E-47CA-B03D-A07596A43E01}" presName="spaceRect" presStyleCnt="0"/>
      <dgm:spPr/>
    </dgm:pt>
    <dgm:pt modelId="{EDD3CF27-DC7C-47E0-B7A6-DFB70622C5BC}" type="pres">
      <dgm:prSet presAssocID="{595C1CE5-545E-47CA-B03D-A07596A43E01}" presName="parTx" presStyleLbl="revTx" presStyleIdx="2" presStyleCnt="3">
        <dgm:presLayoutVars>
          <dgm:chMax val="0"/>
          <dgm:chPref val="0"/>
        </dgm:presLayoutVars>
      </dgm:prSet>
      <dgm:spPr/>
    </dgm:pt>
  </dgm:ptLst>
  <dgm:cxnLst>
    <dgm:cxn modelId="{30359B04-F2B9-4361-84F2-038144567220}" type="presOf" srcId="{595C1CE5-545E-47CA-B03D-A07596A43E01}" destId="{EDD3CF27-DC7C-47E0-B7A6-DFB70622C5BC}" srcOrd="0" destOrd="0" presId="urn:microsoft.com/office/officeart/2018/2/layout/IconVerticalSolidList"/>
    <dgm:cxn modelId="{53AD720E-BAD1-433F-A5E8-AD7F30CE25A6}" srcId="{64C8A220-52F9-49DF-A6C9-753C06E9C6E6}" destId="{A83155F0-8CBF-4E5C-90DA-446D9D2AEFB7}" srcOrd="1" destOrd="0" parTransId="{F31C86AD-C8F4-4423-BEF7-EA7DBA29AFCA}" sibTransId="{DCC8DA98-DBF4-497D-89C9-9C01F7BBEA8D}"/>
    <dgm:cxn modelId="{E68EA61E-737F-42F0-B95B-09D3AF1B247A}" type="presOf" srcId="{64C8A220-52F9-49DF-A6C9-753C06E9C6E6}" destId="{6C946E48-CB16-49B3-8AA7-2690C676DF81}" srcOrd="0" destOrd="0" presId="urn:microsoft.com/office/officeart/2018/2/layout/IconVerticalSolidList"/>
    <dgm:cxn modelId="{C513B947-1546-4DAA-AE0F-5DA40A8A9A29}" type="presOf" srcId="{A83155F0-8CBF-4E5C-90DA-446D9D2AEFB7}" destId="{2ADC7C36-AAF5-4B64-BD12-033D8331EC45}" srcOrd="0" destOrd="0" presId="urn:microsoft.com/office/officeart/2018/2/layout/IconVerticalSolidList"/>
    <dgm:cxn modelId="{C0937148-A34A-40EA-B5BE-9DCFD3DE8F7F}" type="presOf" srcId="{A3760176-BAE7-4011-8804-23F7709EFC7A}" destId="{194B4E65-7C7D-496E-990A-09C9F4F1FBA2}" srcOrd="0" destOrd="0" presId="urn:microsoft.com/office/officeart/2018/2/layout/IconVerticalSolidList"/>
    <dgm:cxn modelId="{1F6E3EF6-D931-48A0-9832-3EF226EA6267}" srcId="{64C8A220-52F9-49DF-A6C9-753C06E9C6E6}" destId="{595C1CE5-545E-47CA-B03D-A07596A43E01}" srcOrd="2" destOrd="0" parTransId="{59CBE414-14C2-40E8-BB49-5B868F53CE7B}" sibTransId="{70C2BA03-71A3-4FAF-8E23-3BD7DB1516A3}"/>
    <dgm:cxn modelId="{FC439BF6-C958-4AFC-99AD-CC7B46EA6322}" srcId="{64C8A220-52F9-49DF-A6C9-753C06E9C6E6}" destId="{A3760176-BAE7-4011-8804-23F7709EFC7A}" srcOrd="0" destOrd="0" parTransId="{072D0EFD-3466-49BC-88DD-06174112B148}" sibTransId="{FAD611E3-486B-4209-BAA4-E07FE2F1A09E}"/>
    <dgm:cxn modelId="{9011DE60-015F-4D2E-8B53-1DDBC533C6B1}" type="presParOf" srcId="{6C946E48-CB16-49B3-8AA7-2690C676DF81}" destId="{FEE724EB-42E8-4B9C-9DC1-1E9D671B0D5F}" srcOrd="0" destOrd="0" presId="urn:microsoft.com/office/officeart/2018/2/layout/IconVerticalSolidList"/>
    <dgm:cxn modelId="{45044D13-DE11-4385-B96E-BCD1AF1B724F}" type="presParOf" srcId="{FEE724EB-42E8-4B9C-9DC1-1E9D671B0D5F}" destId="{73BEFD95-4244-41A7-BD07-46AB40954DF0}" srcOrd="0" destOrd="0" presId="urn:microsoft.com/office/officeart/2018/2/layout/IconVerticalSolidList"/>
    <dgm:cxn modelId="{1DA6A49A-45F8-430A-A208-9C1DE1DFFCD5}" type="presParOf" srcId="{FEE724EB-42E8-4B9C-9DC1-1E9D671B0D5F}" destId="{5F3D80D9-2903-4AE9-87CC-01D3ADFF67C5}" srcOrd="1" destOrd="0" presId="urn:microsoft.com/office/officeart/2018/2/layout/IconVerticalSolidList"/>
    <dgm:cxn modelId="{C7D14A95-44C6-4FA4-B89C-FEF0BBBC4E82}" type="presParOf" srcId="{FEE724EB-42E8-4B9C-9DC1-1E9D671B0D5F}" destId="{473540B3-FAB6-475F-839E-91EB9CFE88C8}" srcOrd="2" destOrd="0" presId="urn:microsoft.com/office/officeart/2018/2/layout/IconVerticalSolidList"/>
    <dgm:cxn modelId="{B005BA8D-F243-4127-A777-7B880063F2A9}" type="presParOf" srcId="{FEE724EB-42E8-4B9C-9DC1-1E9D671B0D5F}" destId="{194B4E65-7C7D-496E-990A-09C9F4F1FBA2}" srcOrd="3" destOrd="0" presId="urn:microsoft.com/office/officeart/2018/2/layout/IconVerticalSolidList"/>
    <dgm:cxn modelId="{6FCA3507-4957-46A1-9224-3405DF71CA57}" type="presParOf" srcId="{6C946E48-CB16-49B3-8AA7-2690C676DF81}" destId="{FA34F2CA-2AE1-479F-B4C8-A4540799C77F}" srcOrd="1" destOrd="0" presId="urn:microsoft.com/office/officeart/2018/2/layout/IconVerticalSolidList"/>
    <dgm:cxn modelId="{6D504280-19A3-4355-9A6D-6DAA76A574B9}" type="presParOf" srcId="{6C946E48-CB16-49B3-8AA7-2690C676DF81}" destId="{1E4C609E-CBFF-4901-8C82-8A917B426486}" srcOrd="2" destOrd="0" presId="urn:microsoft.com/office/officeart/2018/2/layout/IconVerticalSolidList"/>
    <dgm:cxn modelId="{FACF306C-AD5D-40DA-9359-51EEA639DFFD}" type="presParOf" srcId="{1E4C609E-CBFF-4901-8C82-8A917B426486}" destId="{CD79A06A-6806-41EA-9A31-3F03FB4535DC}" srcOrd="0" destOrd="0" presId="urn:microsoft.com/office/officeart/2018/2/layout/IconVerticalSolidList"/>
    <dgm:cxn modelId="{4711D427-5DEF-4B17-93DA-F0B94BDFB67D}" type="presParOf" srcId="{1E4C609E-CBFF-4901-8C82-8A917B426486}" destId="{BAA4D794-678F-4B50-91BE-E44C3DB66DE9}" srcOrd="1" destOrd="0" presId="urn:microsoft.com/office/officeart/2018/2/layout/IconVerticalSolidList"/>
    <dgm:cxn modelId="{6D5D8E23-AAEC-4A65-82E0-8AE584FB94DE}" type="presParOf" srcId="{1E4C609E-CBFF-4901-8C82-8A917B426486}" destId="{BC0DAE9C-837F-4D21-BA85-CA8493580661}" srcOrd="2" destOrd="0" presId="urn:microsoft.com/office/officeart/2018/2/layout/IconVerticalSolidList"/>
    <dgm:cxn modelId="{5ACAD2D7-6273-482E-BA42-BCEA2A0086A9}" type="presParOf" srcId="{1E4C609E-CBFF-4901-8C82-8A917B426486}" destId="{2ADC7C36-AAF5-4B64-BD12-033D8331EC45}" srcOrd="3" destOrd="0" presId="urn:microsoft.com/office/officeart/2018/2/layout/IconVerticalSolidList"/>
    <dgm:cxn modelId="{5F5B887D-EC90-45CC-A2E4-A738B97F7C2C}" type="presParOf" srcId="{6C946E48-CB16-49B3-8AA7-2690C676DF81}" destId="{7A51CDA6-C659-44A1-9F77-C9353F54BD84}" srcOrd="3" destOrd="0" presId="urn:microsoft.com/office/officeart/2018/2/layout/IconVerticalSolidList"/>
    <dgm:cxn modelId="{E255801B-6F5C-4C71-826A-64D762059D60}" type="presParOf" srcId="{6C946E48-CB16-49B3-8AA7-2690C676DF81}" destId="{41E598B3-55D1-4F0E-B366-E76C612BFE02}" srcOrd="4" destOrd="0" presId="urn:microsoft.com/office/officeart/2018/2/layout/IconVerticalSolidList"/>
    <dgm:cxn modelId="{C94CB6C5-8AEB-4162-B100-0DA002FAFCA5}" type="presParOf" srcId="{41E598B3-55D1-4F0E-B366-E76C612BFE02}" destId="{7A5501CC-F087-4D62-BB62-3DD1D82628DD}" srcOrd="0" destOrd="0" presId="urn:microsoft.com/office/officeart/2018/2/layout/IconVerticalSolidList"/>
    <dgm:cxn modelId="{CA9290A8-9E85-4F0C-BF02-EA8F1491907C}" type="presParOf" srcId="{41E598B3-55D1-4F0E-B366-E76C612BFE02}" destId="{9728BEDF-8993-4A24-AD71-2CBDDAD11A29}" srcOrd="1" destOrd="0" presId="urn:microsoft.com/office/officeart/2018/2/layout/IconVerticalSolidList"/>
    <dgm:cxn modelId="{DA75D58B-C0D2-4090-988D-C93E52BA29CF}" type="presParOf" srcId="{41E598B3-55D1-4F0E-B366-E76C612BFE02}" destId="{8793EF4C-D358-45E9-A7A2-37CF9B0196E5}" srcOrd="2" destOrd="0" presId="urn:microsoft.com/office/officeart/2018/2/layout/IconVerticalSolidList"/>
    <dgm:cxn modelId="{E086B9F5-FA8A-4696-ADE4-B71B10DF22C9}" type="presParOf" srcId="{41E598B3-55D1-4F0E-B366-E76C612BFE02}" destId="{EDD3CF27-DC7C-47E0-B7A6-DFB70622C5B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BEFD95-4244-41A7-BD07-46AB40954DF0}">
      <dsp:nvSpPr>
        <dsp:cNvPr id="0" name=""/>
        <dsp:cNvSpPr/>
      </dsp:nvSpPr>
      <dsp:spPr>
        <a:xfrm>
          <a:off x="0" y="518"/>
          <a:ext cx="6944497" cy="12132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3D80D9-2903-4AE9-87CC-01D3ADFF67C5}">
      <dsp:nvSpPr>
        <dsp:cNvPr id="0" name=""/>
        <dsp:cNvSpPr/>
      </dsp:nvSpPr>
      <dsp:spPr>
        <a:xfrm>
          <a:off x="366999" y="273493"/>
          <a:ext cx="667272" cy="66727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4B4E65-7C7D-496E-990A-09C9F4F1FBA2}">
      <dsp:nvSpPr>
        <dsp:cNvPr id="0" name=""/>
        <dsp:cNvSpPr/>
      </dsp:nvSpPr>
      <dsp:spPr>
        <a:xfrm>
          <a:off x="1401272" y="518"/>
          <a:ext cx="5543224" cy="121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399" tIns="128399" rIns="128399" bIns="128399" numCol="1" spcCol="1270" anchor="ctr" anchorCtr="0">
          <a:noAutofit/>
        </a:bodyPr>
        <a:lstStyle/>
        <a:p>
          <a:pPr marL="0" lvl="0" indent="0" algn="l" defTabSz="889000">
            <a:lnSpc>
              <a:spcPct val="100000"/>
            </a:lnSpc>
            <a:spcBef>
              <a:spcPct val="0"/>
            </a:spcBef>
            <a:spcAft>
              <a:spcPct val="35000"/>
            </a:spcAft>
            <a:buNone/>
          </a:pPr>
          <a:r>
            <a:rPr lang="en-US" sz="2000" kern="1200"/>
            <a:t>Have you ever waited a long time for the bus, then three buses arrive at once? This is known as bus bunching.</a:t>
          </a:r>
        </a:p>
      </dsp:txBody>
      <dsp:txXfrm>
        <a:off x="1401272" y="518"/>
        <a:ext cx="5543224" cy="1213222"/>
      </dsp:txXfrm>
    </dsp:sp>
    <dsp:sp modelId="{CD79A06A-6806-41EA-9A31-3F03FB4535DC}">
      <dsp:nvSpPr>
        <dsp:cNvPr id="0" name=""/>
        <dsp:cNvSpPr/>
      </dsp:nvSpPr>
      <dsp:spPr>
        <a:xfrm>
          <a:off x="0" y="1517047"/>
          <a:ext cx="6944497" cy="12132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A4D794-678F-4B50-91BE-E44C3DB66DE9}">
      <dsp:nvSpPr>
        <dsp:cNvPr id="0" name=""/>
        <dsp:cNvSpPr/>
      </dsp:nvSpPr>
      <dsp:spPr>
        <a:xfrm>
          <a:off x="366999" y="1790022"/>
          <a:ext cx="667272" cy="667272"/>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DC7C36-AAF5-4B64-BD12-033D8331EC45}">
      <dsp:nvSpPr>
        <dsp:cNvPr id="0" name=""/>
        <dsp:cNvSpPr/>
      </dsp:nvSpPr>
      <dsp:spPr>
        <a:xfrm>
          <a:off x="1401272" y="1517047"/>
          <a:ext cx="5543224" cy="121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399" tIns="128399" rIns="128399" bIns="128399" numCol="1" spcCol="1270" anchor="ctr" anchorCtr="0">
          <a:noAutofit/>
        </a:bodyPr>
        <a:lstStyle/>
        <a:p>
          <a:pPr marL="0" lvl="0" indent="0" algn="l" defTabSz="889000">
            <a:lnSpc>
              <a:spcPct val="100000"/>
            </a:lnSpc>
            <a:spcBef>
              <a:spcPct val="0"/>
            </a:spcBef>
            <a:spcAft>
              <a:spcPct val="35000"/>
            </a:spcAft>
            <a:buNone/>
          </a:pPr>
          <a:r>
            <a:rPr lang="en-US" sz="2000" kern="1200"/>
            <a:t>Bus bunching is one of the most common and costly reliability failures in urban transit systems.</a:t>
          </a:r>
        </a:p>
      </dsp:txBody>
      <dsp:txXfrm>
        <a:off x="1401272" y="1517047"/>
        <a:ext cx="5543224" cy="1213222"/>
      </dsp:txXfrm>
    </dsp:sp>
    <dsp:sp modelId="{7A5501CC-F087-4D62-BB62-3DD1D82628DD}">
      <dsp:nvSpPr>
        <dsp:cNvPr id="0" name=""/>
        <dsp:cNvSpPr/>
      </dsp:nvSpPr>
      <dsp:spPr>
        <a:xfrm>
          <a:off x="0" y="3033575"/>
          <a:ext cx="6944497" cy="12132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28BEDF-8993-4A24-AD71-2CBDDAD11A29}">
      <dsp:nvSpPr>
        <dsp:cNvPr id="0" name=""/>
        <dsp:cNvSpPr/>
      </dsp:nvSpPr>
      <dsp:spPr>
        <a:xfrm>
          <a:off x="366999" y="3306550"/>
          <a:ext cx="667272" cy="667272"/>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D3CF27-DC7C-47E0-B7A6-DFB70622C5BC}">
      <dsp:nvSpPr>
        <dsp:cNvPr id="0" name=""/>
        <dsp:cNvSpPr/>
      </dsp:nvSpPr>
      <dsp:spPr>
        <a:xfrm>
          <a:off x="1401272" y="3033575"/>
          <a:ext cx="5543224" cy="1213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399" tIns="128399" rIns="128399" bIns="128399" numCol="1" spcCol="1270" anchor="ctr" anchorCtr="0">
          <a:noAutofit/>
        </a:bodyPr>
        <a:lstStyle/>
        <a:p>
          <a:pPr marL="0" lvl="0" indent="0" algn="l" defTabSz="889000">
            <a:lnSpc>
              <a:spcPct val="100000"/>
            </a:lnSpc>
            <a:spcBef>
              <a:spcPct val="0"/>
            </a:spcBef>
            <a:spcAft>
              <a:spcPct val="35000"/>
            </a:spcAft>
            <a:buNone/>
          </a:pPr>
          <a:r>
            <a:rPr lang="en-US" sz="2000" kern="1200" dirty="0"/>
            <a:t>It increases passenger wait times and overcrowds some buses while others run empty.</a:t>
          </a:r>
        </a:p>
      </dsp:txBody>
      <dsp:txXfrm>
        <a:off x="1401272" y="3033575"/>
        <a:ext cx="5543224" cy="121322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00:17.26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59,'65'0,"13"0,-39 0,31 0,-13 0,24-8,-30 6,-2-6,-37 8,-1 0,8 0,7 0,0-4,2 3,-12-2,0 3,0-4,4 3,-4-2,4 3,-4 0,0 0,0 0,-1 0,1-4,4 3,-7-2,6 3,0 0,-5 0,8 0,-9 0,6 0,-5 0,8 0,-13 0,10-4,0 3,-4-2,3 3,-3 0,-2 0,15 0,-13 0,52 0,-44 0,45 0,-50-4,3 3,-2-3,-10 4,14 0,-10 0,18 0,-15 0,7 0,-8 0,2 0,4 0,-6 0,0 0,1 0,1 0,-1 0,-1 0,1 0,1 0,-1 0,-1 0,1 0,1 0,2 4,-7-3,11 2,-13-3,12 0,-1 0,-6 0,8 0,-7 4,-2-3,8 2,-13-3,10 0,-3 0,-3 0,6 0,-7 0,11 0,-9 0,5 4,-4-3,-2 2,7-3,-1 4,-6-3,6 2,0 1,6-3,-4 2,-2-3,-8 4,5-3,1 2,29 5,-27-6,30 7,-27-13,4 0,-7-1,-4-2,-2 6,3-3,0 4,0 0,0 0,12 0,-13 0,9-3,-9 2,-6-6,13 6,-8-6,2 6,6-3,-12 4,12 0,-9 0,3 0,3-3,-6 2,6-6,-7 6,4 1,4 0,-7 4,6-4,-7 0,4 0,0 0,0 0,0 0,0 0,3 4,-6-4,6 4,-3-4,-3 0,6 3,-7-2,4 3,0-4,0 3,0-2,3 3,-5-4,4 0,-2 0,-3 0,6 3,-7-2,4 3,4-4,-3 0,2-4,-3 3,0-2,3 3,-2 0,-1 3,-1-2,1 3,1-4,2 0,-3 0,0 0,0 0,11 0,-9 3,9-2,-11 6,7-6,-6 3,3-4,-5 0,-3 3,11-2,-9 3,8-4,-1 0,-3 0,7 0,-9 0,0 0,0 0,3 0,7 0,-5 0,0 0,-6 0,1 0,1 0,2 0,4 0,-9 0,9 0,-8 0,6 3,-1-2,0 6,-4-6,-1 3,1-4,0 0,4 0,-7 0,6 0,-3 3,-3-2,5 2,-5-3,3 0,3 0,-6 0,6 0,-7 0,4 0,9 0,-7 0,13 0,-13 0,5 0,-7 0,0 0,7 0,-5 0,5 0,-11 0,3 0,10 0,-6 0,5 0,-9 0,1 0,1 0,2 0,4 0,-5 0,13 0,-12 0,12 0,-13 0,5 0,1 0,3 0,24 0,-12 0,11 0,-14 0,-1 0,16-5,-21 4,10-4,-24 5,9 0,-7 0,3 0,-6 0,-3 0,7 0,-5 0,4 0,-5 0,6 0,-6 0,6 0,-3 0,1 0,2 0,-6 0,5 0,-5 0,7 0,-4 0,0 0,7 0,-9 0,8 0,-10 0,4 0,0 0,0 0,0 0,7 0,-9 0,5 0,-4 0,-2 0,7 0,-1 0,-6 0,9 0,-12 0,9 0,0 0,-5 0,5 0,0 0,-2 0,4 0,-6 0,0 0,1 0,1 0,2 0,-3 0,-3 0,6 0,-7 0,4 0,0 0,0 0,0 3,0-2,0 3,-1-4,1 3,0-2,0 3,0-4,0 0,0 0,0 0,0 0,0 0,0 0,0 0,0 3,-1-2,5 3,-7-4,6 0,-3 0,-3 0,6 0,-7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00:36.13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58,'43'0,"-6"0,-21 0,8 0,-9 0,8 0,-7 0,-3 0,6 0,-7 0,4 0,0 0,0 0,4 0,-4 0,0 0,3-3,-6 2,7-3,-4 4,0 0,-1 0,1 0,0 4,4-3,-7 2,6-3,-7 0,4 0,0 0,0 0,0 0,0 0,0 0,3 0,-6 0,6 0,-7 0,4 0,0 0,4 0,-7 0,5 0,-5 0,3 0,0 0,0 4,3-3,-6 2,6-3,-7 0,8 0,-7 0,6 0,-4 0,-1 0,4-3,-5 2,3-3,0 4,-1 0,1-4,0 4,0-4,0 4,0 0,0 0,0-4,0 3,0-6,0 6,0-2,3 3,-6 0,6 0,-7-4,4 3,0-2,0 3,0 0,0 0,0 3,0-2,7 3,-5-4,1 0,0 3,-10-2,13 3,-8-4,2 0,2 0,-5 0,7 0,-4 0,0 0,0 0,0 0,0 0,-1 0,5 0,-7 0,6 0,-7 0,4 0,0 0,0 0,0 0,0 0,3 3,-5-2,4 3,-6-4,8 0,0 0,-3 0,10 0,-16 0,9 0,7 0,-14 0,18 0,-22 0,9 0,-5 0,15 0,-13 0,9 0,-5 0,-1 0,1 3,5-2,-13 3,12-4,-10 0,3 0,26 0,-13-4,11 3,-21-3,-11 4,10 0,-4 0,6 0,-5 0,-3 0,8-3,-7 2,6-6,-3 6,-3-3,5 4,-5 0,3 0,0-3,0 2,0-3,-1 4,1-3,0 2,0-3,0 4,0 0,0 0,0-3,0 2,3-3,-5 4,4 0,-2 0,-3 0,6 0,-7 0,4 0,0 0,0 0,4 0,-4 0,4 0,-8 0,7 0,-6 0,7-4,-1 4,-6-4,6 4,-7 0,8 0,0 0,0 0,-4 0,-1 0,1 0,1 0,-1 0,-1 0,1 0,1 0,-1 0,-1 0,4 0,-5 0,5 0,-4 4,-2-4,7 7,-4-6,-4 3,7-4,-3 0,1 0,2 0,-7 0,8 0,-7 0,9 0,-12 0,8 0,-2 0,-3 0,10 0,-14 3,10-2,-3 3,1-4,-1 0,-1 0,1 3,4-2,-3 3,-2-4,0 0,-2 0,7 3,-5-2,1 3,0-4,0 3,4-2,-4 3,4-4,-4 0,0 0,0 0,0 0,0 0,-1 0,1 0,0 0,0 0,0 0,4 0,0 0,-3 0,1 0,-2 0,-2 0,8 0,-9 0,6 0,-3 0,0 0,4 3,-3-2,2 3,-3-4,0 0,7 0,-5 0,1 0,-4 0,-3 0,8 0,-3 0,2 0,-3 0,4 0,-4 0,4 0,-4 3,8-2,-6 3,3-1,5-2,-11 3,20-4,-8 0,-1 0,14 0,-20 0,12 0,-16 0,0 0,-1 0,10 0,-7 0,6 0,-8 0,0 0,0 3,0-2,0 3,9-4,-11 0,10 0,-12 0,8 0,-7 0,5 0,-5 0,3 0,3 0,1 0,-3 0,-2 0,0 0,-1 0,5 0,-3 0,8 0,-5 0,1 0,-4 0,-4 0,11 0,-5 0,5 0,1 0,-6 0,14 0,-6 0,-1 0,0 0,-10 0,1 0,0 0,4 3,-3-2,-1 3,2-4,-5 0,7 0,-4 0,0 0,0 0,0 0,-1 0,1 0,0 0,0-4,4 3,0-3,-3 4,-2 0,3-3,-7 2,11-3,-9 4,2 0,1 0,4 0,-7 0,6 0,-7 0,4 0,0 0,3 0,-5 4,4-3,-5 2,3-3,-1 0,1 0,0 0,0 0,0 0,0 0,0 0,0-3,0 2,0-3,0 4,0 0,0 0,0 0,-1 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00:52.4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51,'59'0,"-8"0,-35 0,0 0,8 0,-6 4,22-4,-11 4,4-4,-8 0,-13 0,3 0,5 4,-6-4,4 4,1-4,-8 0,11 0,-6 0,-3 0,6 0,-3 0,9 0,-7 0,6 0,-12 0,4 0,0-4,12 3,-9-2,9 3,-12 0,8-5,-9 3,17-8,-21 9,12-5,-10 6,-1 0,7 0,-6 0,6 0,-3 0,0 0,0 0,0 0,0 0,0 0,0 0,3 0,-5-3,4 2,-5-3,2 4,1 0,9 0,-4 0,1-3,-7 2,-3-3,4 4,1 0,-1 0,-1 0,0 0,2 0,3 0,-4 0,8 5,-6-3,3 3,-6-5,-2 0,6 0,-6 0,6 0,-7 3,4-2,0 3,0-4,0 0,0 0,0 0,0 0,3 0,-6 0,6 0,-7 0,4 0,4 0,-7 0,6 0,-7 0,4 0,0 0,0 0,0 0,0 0,3 3,-6-2,6 3,-7-4,4 0,0 0,0 0,0 0,4 0,-7 0,5 3,-5-2,3 3,0-4,0 0,-1 0,1 0,0 0,0-4,0 3,0-2,0 3,0 0,0 0,0 0,0 0,0 0,0 0,-1 0,1 0,0 0,0 0,0 0,0 0,0 0,0 0,0 0,0 0,0 0,0 0,0 0,-1 0,5-4,-3 3,-1-2,-1 3,1 0,0 0,4 0,-8 0,7 0,-6 0,7 0,-4 0,3 0,-6 0,6 0,-3 0,-3 0,6 0,-7 0,4 0,0 0,0 0,0 0,0 0,3 0,-6 0,6 0,-7 0,4 3,0-2,0 3,0-1,0-2,0 2,0 1,3-3,-6 2,6-3,-7 0,13 0,-11 0,7 4,-6-3,-6 2,13-3,-8 0,2 0,6-3,-12 2,12-3,-9 4,3 0,0 0,0 0,0 0,3 0,-6 0,6 0,-7 0,4 0,0 0,0 0,0 0,0 0,0 4,0-3,0-1,0-1,-1-3,1 4,0 0,0-3,0 2,11-3,-9 4,9 0,-11 0,-4 0,7 0,-6 0,10-3,-10 2,6-3,-7 4,4 0,0 0,4 0,-7 0,5 0,-2 0,-2 0,4 0,-5 0,2 0,1 0,9 0,-7 0,6 0,-8 0,9 0,-7 0,15 0,-15 0,3 0,1 0,1 0,2 0,-1 0,1 0,-7 0,10 0,-11-4,2 4,-3-4,0 4,0 0,0 0,0 0,0 0,0 0,7 0,-9 0,4 0,-3 0,-1 0,5 0,-3 0,0 0,3 0,-5 0,4 0,45 0,-34-4,37 3,-54-2,3 3,1 0,5 0,-5-4,0 3,-1-2,-2 3,6 0,1 0,-7 0,6 0,-7 3,4-2,0 3,3-4,-5 3,4-2,-2 3,1-4,2 0,-3 0,4 0,5 0,4 0,-3 0,6 0,-14 0,15 5,-8-4,1 4,-7-5,-7 0,7 0,-5 0,5 0,-4 0,-2 0,6 0,-6-3,6 2,-7-3,4 4,26 0,-23 0,22 0,-32 0,6 0,4 0,-4 0,3 0,-3 0,-2 0,10 0,-6 0,-1 0,-1 0,5-3,-3 2,6-3,12 4,-10-3,7 2,-13-7,-7 8,4-4,0 4,3 0,-5 4,4-4,3 4,-6-4,5 0,2-4,-11 3,15-2,-14 3,4 0,0 0,0 0,4 0,-7-4,5 3,-5-6,3 6,0-2,0 3,0 0,-1 0,1 0,4 0,-7 0,6 0,-7 0,4 0,11 0,-9 0,9 0,-11 3,-4-2,7 3,-3-4</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01:20.68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74,'92'8,"-1"-1,-26 0,-5-1,-6-6,-3 0,24 0,-14 0,26 0,-59 0,9 0,-29 0,4 0,9 5,-7-4,18 9,-17-8,25 3,6 3,0-6,7 12,-18-13,0 9,0-8,-12 3,-3-5,-12 3,19 3,-2-1,9 0,34 5,-33-7,27 7,-29-10,-3-5,-6 3,11-3,-20 5,9-3,36 2,-34-6,74-3,-74 1,26 0,-40 2,-1 6,9-6,1 2,3-3,-5 0,-6 0,2 0,-3 0,8 0,-3 3,11 2,-10-1,3 3,-6-3,-3 4,7 0,-2 0,18-5,-6 4,4-8,-8 8,17-11,-20 10,20-6,-26 8,-4 0,26 0,-20 0,29 0,-29-4,7 4,-13-8,3 7,8-2,-4 3,7 0,-10 0,-3 0,28 0,-22 0,31 0,-6-8,-17 6,27-7,-39 9,9 0,0 0,-9 0,35 0,-28 0,20 0,0 0,-16 0,25 0,-29 0,-1 0,3 0,-13 0,9 0,-2 0,12 5,40-3,-27 3,16-5,-43 0,0 0,8 0,-9 0,5 0,-2 3,5 3,46 9,-25-2,26-1,-35-7,0 0,-9-4,7 4,1 1,55 6,-33-4,-3 3,-1-2,-13-7,14 6,-18-8,0 0,-8 4,21 2,-17-2,11 2,-18-6,-8 0,-3 0,5 0,3 0,-4 0,6 0,-15 0,11 0,-6 0,33 0,-15 5,13-4,-11 4,-15-5,15 0,-15 0,30 0,-17 0,8-3,-7 2,-9-3,29 4,-21 4,17-4,7 1,37 2,-18-3,3 0,-7 0,-5 0,21 0,-18-5,-54 4,6-5,-8 3,9 2,-7-3,18 4,-21 0,9 4,-5-3,-5 2,12-3,-8 0,14 0,-10 0,15 0,-15 0,15 0,-12 0,1 0,-7-3,-3 2,4-3,13 4,-10 0,11 0,-17 0,3 0,11 0,-11 0,8 0,-9 0,27 0,8 0,27-8,-28 2,-7-7,-26 2,0-2,-8 1,0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02:43.98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1 125,'52'7,"1"-1,46 4,-25-10,-17 0,-5 0,-9 0,-6 0,-7 0,-7 0,-14 0,10 0,-2 0,3 0,-4 0,-1 0,1 0,1 0,2 0,-7 0,7 0,-6-4,7 3,-4-2,0 3,-1 0,1 0,0 0,12 0,-9-4,9 3,-12-6,0 6,43-12,-32 6,29-4,-45 8,-3 3,15 0,-12 0,15 0,-10 0,-3 0,9-4,-12 3,8-2,-2 3,-2 0,4 0,-5 0,2 0,5 0,-7 0,6 0,-7 0,8 3,-7-2,5 3,2-4,6 0,25 0,6 0,0 0,13 0,-30 0,12 0,-17 0,1 0,-10 0,25-9,-20 7,21-6,-17 8,0-5,1 4,-10-5,-5 6,-6 0,1 0,1-3,2 2,-6-3,5 4,-4 0,5-3,-3 2,0-3,0 4,3 0,-5 0,4 0,-6 0,4 0,0-3,9 2,-7-3,50 4,-41 0,32 0,-43 0,-4-4,12 4,-13-4,9 4,-5 0,-2 0,7 0,-5-4,1 3,0-2,0 3,0 0,0 0,0 0,0 0,0 0,0 0,0 0,0 0,3 0,-6 0,6 0,-7 0,4 0,4 0,-3 0,-2 0,0 0,1 0,1 0,-1 0,-1 0,1 3,4-2,-3 6,-2-6,0 3,-1-4,5 0,-3 0,0 0,0 0,0 0,0 3,3-2,-6 3,6-1,-7-2,8 6,-3-6,2 3,6-4,-7 0,3 0,-3 0,-8 0,23 0,-17 0,10 0,-14 0,6 3,-4-2,6 3,-5-4,-3 0,8 0,-7 0,18 0,-20 0,13 0,0 0,-12 0,11 0,-8 0,-5-4,24 3,-18-2,12 3,-13-4,-2 3,6-2,-2 3,3 0,25 0,-22 0,23 0,-30-4,-4 3,7-3,-6 4,6 0,4 0,-5 0,1 0,-4 0,1 0,1 0,6 0,-6-3,-1 2,-1-3,1 4,1 0,-1 0,2 0,-4 0,9 0,-7 0,4 0,-8 0,7 0,-2 0,-1 0,3-3,-3 2,1-3,-1 4,-1 0,1 0,0 0,4 0,-8 0,7 0,-2 0,3 0,6 0,-11 0,7 0,2 0,-5 0,18 0,-23 0,10-3,-12 2,4-3,0 4,9 0,1 0,16 0,-5 0,-3 0,-10 0,8 0,-4 0,6 0,-1 0,-6 0,-1 0,-1 0,-9 0,15-3,-11 2,8-3,-16 4,-1 0,9 0,-6 0,4 0,2 0,-9 0,13 0,-12 0,4 0,4 4,-4-3,4 2,-8-3,7 0,-6 0,7 0,-4 0,3 0,-6 0,6 0,-7 0,4 0,0 0,0 0,4 0,0 0,-3 0,-2 0,47 0,-11 0,30 0,-37 0,-19 0,-10 0,1 0,0 0,0 0,0 0,9 0,-7 0,15 0,-19 0,18 0,-21 0,9 0,-5 0,-1 0,17 0,-15 0,11 0,-18 0,14 0,-8 0,6 0,-3 0,-8 0,24 0,-21 0,18-4,-19 4,0-4,14 4,-14 0,10 0,-7 0,-6 0,17 0,14 0,-14 0,15 0,-20 0,-3 0,3 0,5 0,-15 0,11 0,-7 0,-1 0,5 0,-3 0,7 0,-9 0,5 0,-4 0,-2 0,7 0,-1 0,-6 0,6 0,-7 0,4 0,4 0,-4 0,4 0,4 0,-6 0,16 0,-8 0,9 0,0 0,-8 0,6 0,-6 0,-1 0,7 0,-18 0,8 0,-10 0,11 0,55 0,-31 0,40 0,-53 0,0 0,53 0,-49 0,47 0,-68 0,6 0,-11 0,5 0,-5 0,10 0,-9 0,4 0,-2-4,10 3,-5-2,0 3,-9 0,3 0,1 0,1 0,2 0,-7 0,4 0,4 0,-7 0,5 0,-2 0,-2 0,13 0,-13 0,11 0,-9 0,0 0,0 0,-1 0,1 0,0 0,0 0,0 0,0 0,0 0,0 0,0 0,0 0,3 0,-5 0,4 0,-2 0,1 0,2 0,-6 0,9 0,-12 0,13 0,-8 3,2-2,3 3,-4-4,0 0,0 0,-1 0,1 0,0 0,0 0,9 5,-7-4,15 4,-7-5,10 0,-10 0,7 0,-15 0,7 0,-9 0,8 0,-6 0,15 0,-18 0,5-3,-5 2,-2-3,19 4,-17 0,12 0,-18 0,6 0,6 0,-7 0,10 0,-5 0,8 0,-2 0,-1 0,-8 0,0 0,0 0,0 0,29 0,-18 0,20 0,-28 0,-3 0,8 0,3 0,8 0,-8 0,-3-3,-4 2,-3-3,-1 4,-1 0,0 0,9 0,-2 0,1 0,-11 0,3 0,1 0,1 0,-1 0,-1 0,4 0,-5 0,5 0,-4 0,-2-3,7 2,-4-3,0 4,-1 0,5 0,-3 0,-1 0,-5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47:15.49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0 127,'52'-14,"-11"-1,-8 14,-14-6,6 6,-9-3,4 1,-2 2,2-3,-4 0,0 3,1-2,-1 3,0 0,4-4,6 3,-7-3,5 4,-11 0,-1 0,7 0,-5 0,15 0,14 0,-15 0,21 0,-26 0,1 0,0 0,-3 0,-2 0,22 0,-12-5,2 4,-7-5,-15 6,7 0,9 0,-9 0,20 0,-17 0,16-5,-13 4,-1-5,3 6,-12 0,8 0,-1 0,4 0,3-3,-1 2,-8-3,26-5,-20 7,16-6,-24 8,-2-4,3 3,1-2,-1 3,0 0,9 0,-6 0,2 0,-5 0,0 3,-2-2,8 6,-8-2,6-1,-4 0,17 0,-13-3,12 2,-7-3,3 0,8 0,0 6,18-5,2 9,-7-8,1 3,-31-5,6 0,-9 0,1 0,-1 0,4 0,-3 0,-1 0,0 0,0 0,-2 0,8 0,-12 0,9 0,-2 0,4 0,0 0,-5 0,-1 0,2 0,0 0,3 0,-4 0,0 0,1 0,-1 0,0 0,1 0,-1 0,9 0,2 0,9 0,1 0,-1 0,-9 0,-2 0,-9 0,9 0,-6 0,15 0,-16 0,16 0,-7 0,9 0,-8 0,-3 0,-9 0,9 0,20 0,-4 5,13-3,0 3,-14-5,14 0,18-10,-27 7,22-7,-45 10,-3 0,-6 0,12 0,2 0,0 0,7 0,-15 0,13 0,-14 0,2 0,-4 0,9 0,-6 0,10 0,-13 0,8 0,-10 0,5 0,-3 0,-3 3,7-2,5 3,3-4,8 0,-9 0,-2 0,-12 0,2 0,32 0,-23 0,35-6,-31 5,-1-4,-2 5,-12 0,2-4,2 3,9 3,-8-1,6 4,1 1,-9-5,8 4,-8-5,-6 0,12 0,1 0,-5 0,3 0,-9 0,0 0,12 0,-6 0,2 0,-5 0,-2 0,14 0,-11 0,37 0,-38 0,24 0,-31 0,0 0,15 0,-8 0,9 0,-9 0,-2 0,3 0,1 0,3 4,-7-3,6 2,-6-3,3 0,1 0,-1 0,4 0,-7 0,7 0,-4 4,-3-3,7 3,-8-4,5 0,15 3,-12 2,9-1,-17 0,3-4,2 0,1 0,4 0,-12 0,13 0,-9 0,6 0,-4 0,0-4,0 3,1-2,3-1,-3 3,3-3,-7 4,2 4,1-3,-2 3,5-1,-6-2,7 6,-7-6,10 3,-13-4,9 0,1 0,-6 0,9 0,20 8,-19-6,19 7,-28-9,-6 0,16 0,-14 0,9 0,-4 0,-6 0,13 0,-10 0,3 0,4 0,-11 0,11-4,-4 0,-3-1,10 1,-9 4,2-3,3 2,-2-3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47:20.9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1 125,'55'-6,"0"0,-4 5,-1-1,-1-6,0-1,7 8,-4 1,9-5,15 5,-24 0,-29 0,2 0,-13 0,5 0,8 0,-7 0,11-4,-16 3,7-3,-8 4,5 0,-1-3,9 2,2-3,9 4,16-5,-12 3,4-3,-10 5,-16-4,4 4,-11-4,5 4,6-6,0 5,12-4,-15 1,6 3,-13-3,4 4,4-3,-6 2,5-3,-3 4,-3 0,16-5,-14 3,6-3,-10 5,2 0,7 0,-6 0,5 0,-7 0,13 0,-6 0,6 0,-12 0,6-4,-6 4,4-4,2 4,-6 0,4 0,2 0,-6 0,7 0,16 3,-6-2,17 8,-11-7,0 3,0-5,0 0,0 0,-8 0,13 0,-21 0,21 0,-22 4,15-4,-7 9,27-7,4 3,36-5,-13 0,-25 0,0 0,25 0,-5 0,-4 0,-32 0,5 0,-11 0,-15 0,22 0,-21 0,13 0,-17 0,0 0,4 0,-3 0,3 0,-3 0,8 0,-7 0,7 0,-8 0,-1 0,0 0,9 0,-6 0,15 5,-7-3,9 3,0-5,18 0,4 0,1 0,13 0,-32 0,5 0,-11 0,-15 0,14 5,-5-3,26 3,-14 0,32-3,-32 3,14-5,-18 0,0 0,-8 0,6 0,11 0,-5 0,32 0,-14 0,19 0,-19 0,-4 0,-27 0,25 0,31 0,2 0,7 0,-20 0,-31 5,13-4,-27 5,-2-6,0 0,-6 0,6 0,-13 0,4 0,0 0,-2 0,5 0,-7 0,5 0,-1 0,4 3,-3-2,3 3,-3-4,-1 4,0-4,4 4,-3-4,0 0,-2 0,1 0,-2 0,5 0,3 0,5 0,0 0,7 0,-19 0,5 0,-8-4,1 3,7-2,-7 3,7 0,-8 0,5 0,-1 0,9 0,-10 0,9 0,-11 0,7 0,-7 0,6 0,-6 0,3 0,4 0,-6 0,5 0,-6 0,12 0,-10 0,5 0,-12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47:26.78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1 107,'41'-11,"-5"2,-23 5,2 3,6-2,10 3,-2-4,8 3,-18-2,6 3,-13 0,4 0,0 0,-2 0,5 0,-7 0,5 0,11 0,19 0,-16 0,38 0,-37 0,14-4,-21 3,-13-6,-1 6,11-3,-7 4,9 0,15 0,-16-4,20 3,-26-6,-5 6,4-6,4 2,-2 0,2-2,-9 6,5-3,-2 4,5 0,-2 4,-1-3,4 3,6-4,-7 0,31 0,12-6,-8 1,5-1,-46 2,-2 4,-2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47:29.29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0 189,'47'-18,"1"0,34-13,-47 21,-12 4,9-4,-18 9,12-8,16 8,-10-8,22 8,-18-10,0 4,-8 1,-3 0,-16 3,9 2,-1-7,5 7,1-2,-10-1,3 3,3-3,8 4,-4 0,1 0,-12 0,5 0,6-3,4 2,-5-3,-1 4,-9 0,4 0,1 0,3 0,5-5,-10 3,9-3,-15 5,7 0,0 0,1 0,0 0,-2 0,-2 0,3 0,1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47:40.56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0 149,'48'-14,"-10"0,-15 9,-8 0,8-2,-6 6,-1-6,0 2,-3 0,10 2,-13-1,9 3,-3-6,-2 6,9-3,-6 4,3 0,-7 0,6 0,3-5,9 4,-3-5,5 1,-2 3,-2-3,8 5,-22-4,9 4,-15-4,7 4,0-4,1 3,-1-2,0 3,-3-4,3 3,0-6,4 6,-6-3,9 0,-10 3,3-2,3 3,-9 0,10 0,-4 0,-3 0,6 0,-6 0,4 3,8-2,-7 6,7-6,-8 7,-5-7,7 6,-1-6,-1 6,5-6,-12 6,9-6,-2 3,-4-4,6 3,-6 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47:43.53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17,'43'-10,"-8"3,-20 7,1 0,2 0,2 0,-8 0,4 0,0 0,-2 0,5 0,-7 0,5 0,-1 4,0-3,1 2,-1 1,0-3,4 6,-6-6,21 6,-22-6,18 6,-22-6,3 6,9-6,-10 7,26-7,-13 2,4-3,-4 0,-15 0,6 0,2 4,-4-3,15 2,-17-3,10 0,-6 0,-5 0,13 0,-6 0,0 0,2 0,-6 0,3 0,1 0,-1 0,4 0,-3 0,0 0,-2-3,-2 2,7-3,-3 4,-1 0,0 0,-4 0,8 0,-3 4,3-3,-7 6,3-3,-4 5,8-5,-3 0,3-4,-3 0,-5 0,0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2T19:47:55.32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20,'77'-11,"-18"2,-33 9,-14 0,7 0,-5 0,2 0,7 4,-12 1,11-1,-9 0,0-4,6 3,-5-2,5 7,-2-8,-4 4,9 0,-7-3,5 6,-5-6,-2 2,3-3,0 0,4 0,-6 0,14 0,-17 0,10 0,-6 0,-5 0,21 0,-18 0,11 0,-12 4,0-3,8 3,-6-4,5 0,-6 3,3-2,0 3,1-4,-1 3,0 2,1-1,-1 0,0-4,1 4,-1-3,0 2,1-3,2 0,-5 0,9 0,-13 0,12 0,-4 0,3 0,-5 0,-1-3,-2 2,3-3,4 4,-6 0,5 0,-6-4,3 0,0-1,1 1,-1 1,0 2,1-3,-1 4,9 0,-10-4,5 3,-11-2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7AC40-F51A-212E-AD50-2D2F1189A9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405115-D88B-3D48-93AF-B1B86FC06EA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0AC55E-F1D5-C760-6EF8-91F32260BF07}"/>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5" name="Footer Placeholder 4">
            <a:extLst>
              <a:ext uri="{FF2B5EF4-FFF2-40B4-BE49-F238E27FC236}">
                <a16:creationId xmlns:a16="http://schemas.microsoft.com/office/drawing/2014/main" id="{8CAE81E1-404B-FA9C-DF87-4C39F21860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022C92-D5F0-3E2B-2DAF-A16E475134D7}"/>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804367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EE6D-B1C5-8C14-0B94-FA9D199FAE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2819156-615E-87E3-8929-7EA76B55D3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034F4E-A2BE-44A0-2D84-500EE588E982}"/>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5" name="Footer Placeholder 4">
            <a:extLst>
              <a:ext uri="{FF2B5EF4-FFF2-40B4-BE49-F238E27FC236}">
                <a16:creationId xmlns:a16="http://schemas.microsoft.com/office/drawing/2014/main" id="{7BB42F4B-5CB3-DC0D-35EB-53DD699078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D6E02E-00FC-D1E1-6573-488D2427AC5D}"/>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3081047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B4ED8-38F8-4C61-A718-78029ED572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76BABF-7AEC-4A1D-D9C4-815AE869C0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00D052-14E4-EAE7-B361-6FD9CCD29B0F}"/>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5" name="Footer Placeholder 4">
            <a:extLst>
              <a:ext uri="{FF2B5EF4-FFF2-40B4-BE49-F238E27FC236}">
                <a16:creationId xmlns:a16="http://schemas.microsoft.com/office/drawing/2014/main" id="{DE755BE8-F25F-0811-8A84-BC6A8A14D2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E2BC13-9C9A-123E-A379-BEC21E0EABCD}"/>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3643166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34723-DA5E-0958-6A6A-CEDAA62498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FDA17E-6AF7-25E6-8DBE-F895A6081C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BB186C-2B38-6DF0-5996-6FE873A48C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DB7509-DBA5-E6F3-DD6D-08D3F2F166B0}"/>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6" name="Footer Placeholder 5">
            <a:extLst>
              <a:ext uri="{FF2B5EF4-FFF2-40B4-BE49-F238E27FC236}">
                <a16:creationId xmlns:a16="http://schemas.microsoft.com/office/drawing/2014/main" id="{0BE8729A-16B8-365E-43F2-FF0ED1D0B7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750223-52A2-8161-3DC3-2BF028978133}"/>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3419262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A5234-F57B-9684-8A1A-427CA9847DF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A47CF28-3702-F6DB-F8B3-C6CD9B88FB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7EB0C5-7428-15E8-E991-781991C476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52C8642-81C3-05FC-1949-0556F2191C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C2D0B9-5A38-60D8-0544-F2E7969E80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6E6382-45CF-D22D-A210-36726FC5B0DC}"/>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8" name="Footer Placeholder 7">
            <a:extLst>
              <a:ext uri="{FF2B5EF4-FFF2-40B4-BE49-F238E27FC236}">
                <a16:creationId xmlns:a16="http://schemas.microsoft.com/office/drawing/2014/main" id="{8EBE7E03-2BDE-0165-6399-BE7624B9C3D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A93070-A16B-85D5-44FA-116B9932C5C1}"/>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3262034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383A1-856E-AD0C-37B2-AD34E99023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83A53C-8C0D-26BE-B608-90C2B5B78FF6}"/>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4" name="Footer Placeholder 3">
            <a:extLst>
              <a:ext uri="{FF2B5EF4-FFF2-40B4-BE49-F238E27FC236}">
                <a16:creationId xmlns:a16="http://schemas.microsoft.com/office/drawing/2014/main" id="{C5904923-01E1-10ED-DD83-01BC40B1C4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B88283-3FE9-A46D-B112-EEF118386DD4}"/>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2868338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8304E4-D713-1846-8A4F-7C83E66B0BD5}"/>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3" name="Footer Placeholder 2">
            <a:extLst>
              <a:ext uri="{FF2B5EF4-FFF2-40B4-BE49-F238E27FC236}">
                <a16:creationId xmlns:a16="http://schemas.microsoft.com/office/drawing/2014/main" id="{9F34DBC8-38DC-F945-44A2-E31C9EA3D1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B41178-A64D-DCE7-E2DB-6CA5227E139F}"/>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467910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70AC7-E28B-982A-1976-57EDDB7E14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51A77A-1C84-D506-0744-DFE5175FFA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C36E85-B13E-786B-1A5A-9C6A2BBC1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90901A-F9DE-D189-8266-16F7D7170EAA}"/>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6" name="Footer Placeholder 5">
            <a:extLst>
              <a:ext uri="{FF2B5EF4-FFF2-40B4-BE49-F238E27FC236}">
                <a16:creationId xmlns:a16="http://schemas.microsoft.com/office/drawing/2014/main" id="{73EDB783-7D47-6B54-47B7-10300C26A4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98F612-6B11-6BC1-17FD-079812D0DDC1}"/>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2184597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BEFE5-86D9-B78A-F901-F73D11F9C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BC1FC8-A87A-8BA3-BDFC-B45B71A958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34D046-9EE7-9D5C-3C58-17905F524E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F38BB1-B3DD-F62F-F6C7-63940950C13E}"/>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6" name="Footer Placeholder 5">
            <a:extLst>
              <a:ext uri="{FF2B5EF4-FFF2-40B4-BE49-F238E27FC236}">
                <a16:creationId xmlns:a16="http://schemas.microsoft.com/office/drawing/2014/main" id="{C0BD777F-4DE1-222A-6B66-F0836FAFCD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9C6B44-5602-1E5A-B083-3197E300DBC7}"/>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3227090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FF3B9-9A57-8604-B7BF-EA64E5B16F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F80F26-0C97-2C5D-CA36-9999C60F68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7B1321-C957-6430-6E36-B11772B4086E}"/>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5" name="Footer Placeholder 4">
            <a:extLst>
              <a:ext uri="{FF2B5EF4-FFF2-40B4-BE49-F238E27FC236}">
                <a16:creationId xmlns:a16="http://schemas.microsoft.com/office/drawing/2014/main" id="{F97DAC92-BA01-0464-D0B1-76ACC1232F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9E7F92-8FB4-5889-470B-0290BD0B7BEA}"/>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2166478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553462-5496-F21F-925C-F506339975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295B44-697E-1D11-CD91-5055CA30BF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B65327-E373-E365-0A20-08AAD9CDF51B}"/>
              </a:ext>
            </a:extLst>
          </p:cNvPr>
          <p:cNvSpPr>
            <a:spLocks noGrp="1"/>
          </p:cNvSpPr>
          <p:nvPr>
            <p:ph type="dt" sz="half" idx="10"/>
          </p:nvPr>
        </p:nvSpPr>
        <p:spPr/>
        <p:txBody>
          <a:bodyPr/>
          <a:lstStyle/>
          <a:p>
            <a:fld id="{8308A520-32E3-9743-A2CC-1FB76CEEF96F}" type="datetimeFigureOut">
              <a:rPr lang="en-US" smtClean="0"/>
              <a:t>5/12/26</a:t>
            </a:fld>
            <a:endParaRPr lang="en-US"/>
          </a:p>
        </p:txBody>
      </p:sp>
      <p:sp>
        <p:nvSpPr>
          <p:cNvPr id="5" name="Footer Placeholder 4">
            <a:extLst>
              <a:ext uri="{FF2B5EF4-FFF2-40B4-BE49-F238E27FC236}">
                <a16:creationId xmlns:a16="http://schemas.microsoft.com/office/drawing/2014/main" id="{01525F44-27E0-8132-762B-70FACABDCC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026B19-B0BC-E5AC-2745-22C28BE8385D}"/>
              </a:ext>
            </a:extLst>
          </p:cNvPr>
          <p:cNvSpPr>
            <a:spLocks noGrp="1"/>
          </p:cNvSpPr>
          <p:nvPr>
            <p:ph type="sldNum" sz="quarter" idx="12"/>
          </p:nvPr>
        </p:nvSpPr>
        <p:spPr/>
        <p:txBody>
          <a:bodyPr/>
          <a:lstStyle/>
          <a:p>
            <a:fld id="{54FB8C9F-575F-8743-B28A-1332FB5C62D7}" type="slidenum">
              <a:rPr lang="en-US" smtClean="0"/>
              <a:t>‹#›</a:t>
            </a:fld>
            <a:endParaRPr lang="en-US"/>
          </a:p>
        </p:txBody>
      </p:sp>
    </p:spTree>
    <p:extLst>
      <p:ext uri="{BB962C8B-B14F-4D97-AF65-F5344CB8AC3E}">
        <p14:creationId xmlns:p14="http://schemas.microsoft.com/office/powerpoint/2010/main" val="2817507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A1484C-FE0D-B42B-0842-0FE1C1115B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B301EB-D16D-2B19-28A5-EADCD3FFAF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EFDA44-4E91-DAC7-C4D1-078E1F9D0E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08A520-32E3-9743-A2CC-1FB76CEEF96F}" type="datetimeFigureOut">
              <a:rPr lang="en-US" smtClean="0"/>
              <a:t>5/12/26</a:t>
            </a:fld>
            <a:endParaRPr lang="en-US"/>
          </a:p>
        </p:txBody>
      </p:sp>
      <p:sp>
        <p:nvSpPr>
          <p:cNvPr id="5" name="Footer Placeholder 4">
            <a:extLst>
              <a:ext uri="{FF2B5EF4-FFF2-40B4-BE49-F238E27FC236}">
                <a16:creationId xmlns:a16="http://schemas.microsoft.com/office/drawing/2014/main" id="{0A6FFD5B-ABDD-433D-A55B-389C8F3063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FDCC02E-665A-1F12-267F-E79CF17601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FB8C9F-575F-8743-B28A-1332FB5C62D7}" type="slidenum">
              <a:rPr lang="en-US" smtClean="0"/>
              <a:t>‹#›</a:t>
            </a:fld>
            <a:endParaRPr lang="en-US"/>
          </a:p>
        </p:txBody>
      </p:sp>
    </p:spTree>
    <p:extLst>
      <p:ext uri="{BB962C8B-B14F-4D97-AF65-F5344CB8AC3E}">
        <p14:creationId xmlns:p14="http://schemas.microsoft.com/office/powerpoint/2010/main" val="3812527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3.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customXml" Target="../ink/ink5.xml"/><Relationship Id="rId5" Type="http://schemas.openxmlformats.org/officeDocument/2006/relationships/customXml" Target="../ink/ink2.xml"/><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customXml" Target="../ink/ink4.xml"/></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customXml" Target="../ink/ink11.xml"/><Relationship Id="rId3" Type="http://schemas.openxmlformats.org/officeDocument/2006/relationships/customXml" Target="../ink/ink6.xml"/><Relationship Id="rId7" Type="http://schemas.openxmlformats.org/officeDocument/2006/relationships/customXml" Target="../ink/ink8.xml"/><Relationship Id="rId12" Type="http://schemas.openxmlformats.org/officeDocument/2006/relationships/image" Target="../media/image24.png"/><Relationship Id="rId2" Type="http://schemas.openxmlformats.org/officeDocument/2006/relationships/image" Target="../media/image19.png"/><Relationship Id="rId16"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customXml" Target="../ink/ink10.xml"/><Relationship Id="rId5" Type="http://schemas.openxmlformats.org/officeDocument/2006/relationships/customXml" Target="../ink/ink7.xml"/><Relationship Id="rId15" Type="http://schemas.openxmlformats.org/officeDocument/2006/relationships/customXml" Target="../ink/ink12.xml"/><Relationship Id="rId10" Type="http://schemas.openxmlformats.org/officeDocument/2006/relationships/image" Target="../media/image23.png"/><Relationship Id="rId4" Type="http://schemas.openxmlformats.org/officeDocument/2006/relationships/image" Target="../media/image20.png"/><Relationship Id="rId9" Type="http://schemas.openxmlformats.org/officeDocument/2006/relationships/customXml" Target="../ink/ink9.xml"/><Relationship Id="rId1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How the MTA Plans to Harness New Technology to Eliminate Bus Bunching -  Streetsblog New York City">
            <a:extLst>
              <a:ext uri="{FF2B5EF4-FFF2-40B4-BE49-F238E27FC236}">
                <a16:creationId xmlns:a16="http://schemas.microsoft.com/office/drawing/2014/main" id="{B27FB71C-EE76-8F13-752F-6BE56A3A5BD4}"/>
              </a:ext>
            </a:extLst>
          </p:cNvPr>
          <p:cNvPicPr>
            <a:picLocks noChangeAspect="1"/>
          </p:cNvPicPr>
          <p:nvPr/>
        </p:nvPicPr>
        <p:blipFill>
          <a:blip r:embed="rId2">
            <a:alphaModFix amt="50000"/>
          </a:blip>
          <a:srcRect b="10359"/>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AD8DED09-2D3E-1BE4-B77B-AE77DB798665}"/>
              </a:ext>
            </a:extLst>
          </p:cNvPr>
          <p:cNvSpPr>
            <a:spLocks noGrp="1"/>
          </p:cNvSpPr>
          <p:nvPr>
            <p:ph type="ctrTitle"/>
          </p:nvPr>
        </p:nvSpPr>
        <p:spPr>
          <a:xfrm>
            <a:off x="1524000" y="1122362"/>
            <a:ext cx="9144000" cy="2900518"/>
          </a:xfrm>
        </p:spPr>
        <p:txBody>
          <a:bodyPr>
            <a:normAutofit/>
          </a:bodyPr>
          <a:lstStyle/>
          <a:p>
            <a:r>
              <a:rPr lang="en-US">
                <a:solidFill>
                  <a:srgbClr val="FFFFFF"/>
                </a:solidFill>
              </a:rPr>
              <a:t>Bus Bunching </a:t>
            </a:r>
            <a:br>
              <a:rPr lang="en-US">
                <a:solidFill>
                  <a:srgbClr val="FFFFFF"/>
                </a:solidFill>
              </a:rPr>
            </a:br>
            <a:r>
              <a:rPr lang="en-US">
                <a:solidFill>
                  <a:srgbClr val="FFFFFF"/>
                </a:solidFill>
              </a:rPr>
              <a:t>Cross Agency Comparison</a:t>
            </a:r>
          </a:p>
        </p:txBody>
      </p:sp>
      <p:sp>
        <p:nvSpPr>
          <p:cNvPr id="3" name="Subtitle 2">
            <a:extLst>
              <a:ext uri="{FF2B5EF4-FFF2-40B4-BE49-F238E27FC236}">
                <a16:creationId xmlns:a16="http://schemas.microsoft.com/office/drawing/2014/main" id="{90BD90BA-B97D-43FA-5ECF-036A69674524}"/>
              </a:ext>
            </a:extLst>
          </p:cNvPr>
          <p:cNvSpPr>
            <a:spLocks noGrp="1"/>
          </p:cNvSpPr>
          <p:nvPr>
            <p:ph type="subTitle" idx="1"/>
          </p:nvPr>
        </p:nvSpPr>
        <p:spPr>
          <a:xfrm>
            <a:off x="1524000" y="4159404"/>
            <a:ext cx="9144000" cy="1098395"/>
          </a:xfrm>
        </p:spPr>
        <p:txBody>
          <a:bodyPr>
            <a:normAutofit/>
          </a:bodyPr>
          <a:lstStyle/>
          <a:p>
            <a:r>
              <a:rPr lang="en-US" dirty="0">
                <a:solidFill>
                  <a:srgbClr val="FFFFFF"/>
                </a:solidFill>
              </a:rPr>
              <a:t>ECO 590</a:t>
            </a:r>
          </a:p>
          <a:p>
            <a:r>
              <a:rPr lang="en-US" dirty="0">
                <a:solidFill>
                  <a:srgbClr val="FFFFFF"/>
                </a:solidFill>
              </a:rPr>
              <a:t>Ahmad Alexander</a:t>
            </a:r>
          </a:p>
        </p:txBody>
      </p:sp>
    </p:spTree>
    <p:extLst>
      <p:ext uri="{BB962C8B-B14F-4D97-AF65-F5344CB8AC3E}">
        <p14:creationId xmlns:p14="http://schemas.microsoft.com/office/powerpoint/2010/main" val="431227987"/>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F7F19-E498-EC2A-4C7F-102EE18BE443}"/>
              </a:ext>
            </a:extLst>
          </p:cNvPr>
          <p:cNvSpPr>
            <a:spLocks noGrp="1"/>
          </p:cNvSpPr>
          <p:nvPr>
            <p:ph type="title"/>
          </p:nvPr>
        </p:nvSpPr>
        <p:spPr>
          <a:xfrm>
            <a:off x="838200" y="215810"/>
            <a:ext cx="10515600" cy="1325563"/>
          </a:xfrm>
        </p:spPr>
        <p:txBody>
          <a:bodyPr/>
          <a:lstStyle/>
          <a:p>
            <a:r>
              <a:rPr lang="en-US" dirty="0"/>
              <a:t>Motivation</a:t>
            </a:r>
          </a:p>
        </p:txBody>
      </p:sp>
      <p:sp>
        <p:nvSpPr>
          <p:cNvPr id="8" name="TextBox 7">
            <a:extLst>
              <a:ext uri="{FF2B5EF4-FFF2-40B4-BE49-F238E27FC236}">
                <a16:creationId xmlns:a16="http://schemas.microsoft.com/office/drawing/2014/main" id="{6125866C-5CB8-8164-8248-43AA69B649EE}"/>
              </a:ext>
            </a:extLst>
          </p:cNvPr>
          <p:cNvSpPr txBox="1"/>
          <p:nvPr/>
        </p:nvSpPr>
        <p:spPr>
          <a:xfrm>
            <a:off x="4942701" y="5441861"/>
            <a:ext cx="6709719" cy="1200329"/>
          </a:xfrm>
          <a:prstGeom prst="rect">
            <a:avLst/>
          </a:prstGeom>
          <a:noFill/>
        </p:spPr>
        <p:txBody>
          <a:bodyPr wrap="square" rtlCol="0">
            <a:spAutoFit/>
          </a:bodyPr>
          <a:lstStyle/>
          <a:p>
            <a:r>
              <a:rPr lang="en-US" sz="2400" i="1" dirty="0"/>
              <a:t>Research question:</a:t>
            </a:r>
            <a:r>
              <a:rPr lang="en-US" sz="2400" dirty="0"/>
              <a:t> What route-level and temporal factors predict bus bunching, and do these relationships vary across agencies?</a:t>
            </a:r>
          </a:p>
        </p:txBody>
      </p:sp>
      <p:graphicFrame>
        <p:nvGraphicFramePr>
          <p:cNvPr id="11" name="TextBox 8">
            <a:extLst>
              <a:ext uri="{FF2B5EF4-FFF2-40B4-BE49-F238E27FC236}">
                <a16:creationId xmlns:a16="http://schemas.microsoft.com/office/drawing/2014/main" id="{059819D2-2E57-6A7E-D9DF-180BA795EDE0}"/>
              </a:ext>
            </a:extLst>
          </p:cNvPr>
          <p:cNvGraphicFramePr/>
          <p:nvPr>
            <p:extLst>
              <p:ext uri="{D42A27DB-BD31-4B8C-83A1-F6EECF244321}">
                <p14:modId xmlns:p14="http://schemas.microsoft.com/office/powerpoint/2010/main" val="3048661210"/>
              </p:ext>
            </p:extLst>
          </p:nvPr>
        </p:nvGraphicFramePr>
        <p:xfrm>
          <a:off x="4825313" y="1027906"/>
          <a:ext cx="6944497" cy="424731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5" name="Content Placeholder 3" descr="A Late is the worst - Imgflip">
            <a:extLst>
              <a:ext uri="{FF2B5EF4-FFF2-40B4-BE49-F238E27FC236}">
                <a16:creationId xmlns:a16="http://schemas.microsoft.com/office/drawing/2014/main" id="{69FE3A05-36FC-5CEB-4199-EE6DA36DDF7F}"/>
              </a:ext>
            </a:extLst>
          </p:cNvPr>
          <p:cNvPicPr>
            <a:picLocks noGrp="1" noChangeAspect="1"/>
          </p:cNvPicPr>
          <p:nvPr>
            <p:ph idx="1"/>
          </p:nvPr>
        </p:nvPicPr>
        <p:blipFill>
          <a:blip r:embed="rId7"/>
          <a:stretch>
            <a:fillRect/>
          </a:stretch>
        </p:blipFill>
        <p:spPr>
          <a:xfrm>
            <a:off x="422189" y="1336655"/>
            <a:ext cx="3987113" cy="5390577"/>
          </a:xfrm>
          <a:prstGeom prst="rect">
            <a:avLst/>
          </a:prstGeom>
        </p:spPr>
      </p:pic>
    </p:spTree>
    <p:extLst>
      <p:ext uri="{BB962C8B-B14F-4D97-AF65-F5344CB8AC3E}">
        <p14:creationId xmlns:p14="http://schemas.microsoft.com/office/powerpoint/2010/main" val="189514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2CEF8E-AA98-610C-C8B4-F5E6DF6F364A}"/>
              </a:ext>
            </a:extLst>
          </p:cNvPr>
          <p:cNvSpPr>
            <a:spLocks noGrp="1"/>
          </p:cNvSpPr>
          <p:nvPr>
            <p:ph type="title"/>
          </p:nvPr>
        </p:nvSpPr>
        <p:spPr>
          <a:xfrm>
            <a:off x="643278" y="639520"/>
            <a:ext cx="3429000" cy="1719072"/>
          </a:xfrm>
        </p:spPr>
        <p:txBody>
          <a:bodyPr vert="horz" lIns="91440" tIns="45720" rIns="91440" bIns="45720" rtlCol="0" anchor="b">
            <a:normAutofit/>
          </a:bodyPr>
          <a:lstStyle/>
          <a:p>
            <a:r>
              <a:rPr lang="en-US" sz="5400" kern="1200" dirty="0">
                <a:solidFill>
                  <a:schemeClr val="tx1"/>
                </a:solidFill>
                <a:latin typeface="+mj-lt"/>
                <a:ea typeface="+mj-ea"/>
                <a:cs typeface="+mj-cs"/>
              </a:rPr>
              <a:t>Data Collection</a:t>
            </a:r>
          </a:p>
        </p:txBody>
      </p:sp>
      <p:sp>
        <p:nvSpPr>
          <p:cNvPr id="1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04707A3-528A-8ABE-5E9F-28CA73DC4026}"/>
              </a:ext>
            </a:extLst>
          </p:cNvPr>
          <p:cNvSpPr txBox="1"/>
          <p:nvPr/>
        </p:nvSpPr>
        <p:spPr>
          <a:xfrm>
            <a:off x="630936" y="2807208"/>
            <a:ext cx="4164348" cy="356764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900" dirty="0"/>
              <a:t>GTFS is a universal standard for transit data, every agency uses the same language</a:t>
            </a:r>
          </a:p>
          <a:p>
            <a:pPr indent="-228600">
              <a:lnSpc>
                <a:spcPct val="90000"/>
              </a:lnSpc>
              <a:spcAft>
                <a:spcPts val="600"/>
              </a:spcAft>
              <a:buFont typeface="Arial" panose="020B0604020202020204" pitchFamily="34" charset="0"/>
              <a:buChar char="•"/>
            </a:pPr>
            <a:r>
              <a:rPr lang="en-US" sz="1900" dirty="0"/>
              <a:t>Real-time feeds (GTFS-RT) give live vehicle positions, that's where deviation and bunching come from</a:t>
            </a:r>
          </a:p>
          <a:p>
            <a:pPr indent="-228600">
              <a:lnSpc>
                <a:spcPct val="90000"/>
              </a:lnSpc>
              <a:spcAft>
                <a:spcPts val="600"/>
              </a:spcAft>
              <a:buFont typeface="Arial" panose="020B0604020202020204" pitchFamily="34" charset="0"/>
              <a:buChar char="•"/>
            </a:pPr>
            <a:r>
              <a:rPr lang="en-US" sz="1900" dirty="0"/>
              <a:t>Main difference across agencies: how nested the data is</a:t>
            </a:r>
          </a:p>
          <a:p>
            <a:pPr indent="-228600">
              <a:lnSpc>
                <a:spcPct val="90000"/>
              </a:lnSpc>
              <a:spcAft>
                <a:spcPts val="600"/>
              </a:spcAft>
              <a:buFont typeface="Arial" panose="020B0604020202020204" pitchFamily="34" charset="0"/>
              <a:buChar char="•"/>
            </a:pPr>
            <a:r>
              <a:rPr lang="en-US" sz="1900" dirty="0"/>
              <a:t>WMATA was the cleanest and least nested </a:t>
            </a:r>
          </a:p>
          <a:p>
            <a:pPr indent="-228600">
              <a:lnSpc>
                <a:spcPct val="90000"/>
              </a:lnSpc>
              <a:spcAft>
                <a:spcPts val="600"/>
              </a:spcAft>
              <a:buFont typeface="Arial" panose="020B0604020202020204" pitchFamily="34" charset="0"/>
              <a:buChar char="•"/>
            </a:pPr>
            <a:endParaRPr lang="en-US" sz="1500" dirty="0"/>
          </a:p>
        </p:txBody>
      </p:sp>
      <p:pic>
        <p:nvPicPr>
          <p:cNvPr id="4" name="Content Placeholder 3" descr="High Frequency Bus Route Optimization to Avoid Bus Bunching – AnyLogic  Simulation Software">
            <a:extLst>
              <a:ext uri="{FF2B5EF4-FFF2-40B4-BE49-F238E27FC236}">
                <a16:creationId xmlns:a16="http://schemas.microsoft.com/office/drawing/2014/main" id="{7CFB5E69-F9FE-4B9E-9D70-80E199513CC8}"/>
              </a:ext>
            </a:extLst>
          </p:cNvPr>
          <p:cNvPicPr>
            <a:picLocks noGrp="1" noChangeAspect="1"/>
          </p:cNvPicPr>
          <p:nvPr>
            <p:ph idx="1"/>
          </p:nvPr>
        </p:nvPicPr>
        <p:blipFill>
          <a:blip r:embed="rId2"/>
          <a:stretch>
            <a:fillRect/>
          </a:stretch>
        </p:blipFill>
        <p:spPr>
          <a:xfrm>
            <a:off x="4654296" y="1703070"/>
            <a:ext cx="6903720" cy="3451860"/>
          </a:xfrm>
          <a:prstGeom prst="rect">
            <a:avLst/>
          </a:prstGeom>
        </p:spPr>
      </p:pic>
    </p:spTree>
    <p:extLst>
      <p:ext uri="{BB962C8B-B14F-4D97-AF65-F5344CB8AC3E}">
        <p14:creationId xmlns:p14="http://schemas.microsoft.com/office/powerpoint/2010/main" val="834300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35AE70B-29FF-1F28-20D9-3FCBD226B375}"/>
              </a:ext>
            </a:extLst>
          </p:cNvPr>
          <p:cNvPicPr>
            <a:picLocks noGrp="1" noChangeAspect="1"/>
          </p:cNvPicPr>
          <p:nvPr>
            <p:ph idx="1"/>
          </p:nvPr>
        </p:nvPicPr>
        <p:blipFill>
          <a:blip r:embed="rId2"/>
          <a:stretch>
            <a:fillRect/>
          </a:stretch>
        </p:blipFill>
        <p:spPr>
          <a:xfrm>
            <a:off x="120208" y="1334732"/>
            <a:ext cx="11951584" cy="4188536"/>
          </a:xfrm>
          <a:prstGeom prst="rect">
            <a:avLst/>
          </a:prstGeom>
        </p:spPr>
      </p:pic>
      <p:sp>
        <p:nvSpPr>
          <p:cNvPr id="6" name="TextBox 5">
            <a:extLst>
              <a:ext uri="{FF2B5EF4-FFF2-40B4-BE49-F238E27FC236}">
                <a16:creationId xmlns:a16="http://schemas.microsoft.com/office/drawing/2014/main" id="{C4B07EB8-EE86-94F3-21EA-7544F32EF331}"/>
              </a:ext>
            </a:extLst>
          </p:cNvPr>
          <p:cNvSpPr txBox="1"/>
          <p:nvPr/>
        </p:nvSpPr>
        <p:spPr>
          <a:xfrm>
            <a:off x="2923953" y="478465"/>
            <a:ext cx="3062177" cy="646331"/>
          </a:xfrm>
          <a:prstGeom prst="rect">
            <a:avLst/>
          </a:prstGeom>
          <a:noFill/>
        </p:spPr>
        <p:txBody>
          <a:bodyPr wrap="square" rtlCol="0">
            <a:spAutoFit/>
          </a:bodyPr>
          <a:lstStyle/>
          <a:p>
            <a:r>
              <a:rPr lang="en-US" b="1" dirty="0"/>
              <a:t>Outer main loop hold all 3 agencies</a:t>
            </a:r>
          </a:p>
        </p:txBody>
      </p:sp>
      <p:cxnSp>
        <p:nvCxnSpPr>
          <p:cNvPr id="8" name="Straight Arrow Connector 7">
            <a:extLst>
              <a:ext uri="{FF2B5EF4-FFF2-40B4-BE49-F238E27FC236}">
                <a16:creationId xmlns:a16="http://schemas.microsoft.com/office/drawing/2014/main" id="{3FD1DC9C-8E36-653A-942E-0C6A0DFCA9A0}"/>
              </a:ext>
            </a:extLst>
          </p:cNvPr>
          <p:cNvCxnSpPr>
            <a:stCxn id="6" idx="1"/>
          </p:cNvCxnSpPr>
          <p:nvPr/>
        </p:nvCxnSpPr>
        <p:spPr>
          <a:xfrm flipH="1">
            <a:off x="1293692" y="801631"/>
            <a:ext cx="1630261" cy="747014"/>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0" name="TextBox 9">
            <a:extLst>
              <a:ext uri="{FF2B5EF4-FFF2-40B4-BE49-F238E27FC236}">
                <a16:creationId xmlns:a16="http://schemas.microsoft.com/office/drawing/2014/main" id="{47756177-AB77-B86A-1EAE-933D1DB5342F}"/>
              </a:ext>
            </a:extLst>
          </p:cNvPr>
          <p:cNvSpPr txBox="1"/>
          <p:nvPr/>
        </p:nvSpPr>
        <p:spPr>
          <a:xfrm>
            <a:off x="7899991" y="1334732"/>
            <a:ext cx="2658139" cy="646331"/>
          </a:xfrm>
          <a:prstGeom prst="rect">
            <a:avLst/>
          </a:prstGeom>
          <a:noFill/>
        </p:spPr>
        <p:txBody>
          <a:bodyPr wrap="square" rtlCol="0">
            <a:spAutoFit/>
          </a:bodyPr>
          <a:lstStyle/>
          <a:p>
            <a:r>
              <a:rPr lang="en-US" b="1" dirty="0"/>
              <a:t>Loops through the the specified routes</a:t>
            </a:r>
          </a:p>
        </p:txBody>
      </p:sp>
      <p:cxnSp>
        <p:nvCxnSpPr>
          <p:cNvPr id="12" name="Straight Arrow Connector 11">
            <a:extLst>
              <a:ext uri="{FF2B5EF4-FFF2-40B4-BE49-F238E27FC236}">
                <a16:creationId xmlns:a16="http://schemas.microsoft.com/office/drawing/2014/main" id="{2798A7FA-F311-C1CA-6218-1642237C685C}"/>
              </a:ext>
            </a:extLst>
          </p:cNvPr>
          <p:cNvCxnSpPr/>
          <p:nvPr/>
        </p:nvCxnSpPr>
        <p:spPr>
          <a:xfrm flipH="1">
            <a:off x="3944679" y="1679944"/>
            <a:ext cx="3923414" cy="69111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3" name="TextBox 12">
            <a:extLst>
              <a:ext uri="{FF2B5EF4-FFF2-40B4-BE49-F238E27FC236}">
                <a16:creationId xmlns:a16="http://schemas.microsoft.com/office/drawing/2014/main" id="{F7CD57EF-0266-248B-2E29-5ED3815BA2BF}"/>
              </a:ext>
            </a:extLst>
          </p:cNvPr>
          <p:cNvSpPr txBox="1"/>
          <p:nvPr/>
        </p:nvSpPr>
        <p:spPr>
          <a:xfrm>
            <a:off x="7899991" y="2190999"/>
            <a:ext cx="988828" cy="369332"/>
          </a:xfrm>
          <a:prstGeom prst="rect">
            <a:avLst/>
          </a:prstGeom>
          <a:noFill/>
        </p:spPr>
        <p:txBody>
          <a:bodyPr wrap="square" rtlCol="0">
            <a:spAutoFit/>
          </a:bodyPr>
          <a:lstStyle/>
          <a:p>
            <a:r>
              <a:rPr lang="en-US" b="1" dirty="0"/>
              <a:t>API call</a:t>
            </a:r>
          </a:p>
        </p:txBody>
      </p:sp>
      <p:cxnSp>
        <p:nvCxnSpPr>
          <p:cNvPr id="15" name="Straight Arrow Connector 14">
            <a:extLst>
              <a:ext uri="{FF2B5EF4-FFF2-40B4-BE49-F238E27FC236}">
                <a16:creationId xmlns:a16="http://schemas.microsoft.com/office/drawing/2014/main" id="{10207756-A1B9-6C7E-FB0E-67A2715BAB05}"/>
              </a:ext>
            </a:extLst>
          </p:cNvPr>
          <p:cNvCxnSpPr/>
          <p:nvPr/>
        </p:nvCxnSpPr>
        <p:spPr>
          <a:xfrm flipH="1">
            <a:off x="7081284" y="2371060"/>
            <a:ext cx="786809" cy="21265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6" name="TextBox 15">
            <a:extLst>
              <a:ext uri="{FF2B5EF4-FFF2-40B4-BE49-F238E27FC236}">
                <a16:creationId xmlns:a16="http://schemas.microsoft.com/office/drawing/2014/main" id="{C6BA43F8-0C1C-EF1A-57B9-8743170D0D27}"/>
              </a:ext>
            </a:extLst>
          </p:cNvPr>
          <p:cNvSpPr txBox="1"/>
          <p:nvPr/>
        </p:nvSpPr>
        <p:spPr>
          <a:xfrm>
            <a:off x="7485321" y="3003169"/>
            <a:ext cx="4586471" cy="369332"/>
          </a:xfrm>
          <a:prstGeom prst="rect">
            <a:avLst/>
          </a:prstGeom>
          <a:noFill/>
        </p:spPr>
        <p:txBody>
          <a:bodyPr wrap="square" rtlCol="0">
            <a:spAutoFit/>
          </a:bodyPr>
          <a:lstStyle/>
          <a:p>
            <a:r>
              <a:rPr lang="en-US" b="1" dirty="0"/>
              <a:t>Where vehicle data lived, not very nested</a:t>
            </a:r>
          </a:p>
        </p:txBody>
      </p:sp>
      <p:cxnSp>
        <p:nvCxnSpPr>
          <p:cNvPr id="18" name="Straight Arrow Connector 17">
            <a:extLst>
              <a:ext uri="{FF2B5EF4-FFF2-40B4-BE49-F238E27FC236}">
                <a16:creationId xmlns:a16="http://schemas.microsoft.com/office/drawing/2014/main" id="{4A2CEB29-8860-C518-88EF-59B77D283082}"/>
              </a:ext>
            </a:extLst>
          </p:cNvPr>
          <p:cNvCxnSpPr/>
          <p:nvPr/>
        </p:nvCxnSpPr>
        <p:spPr>
          <a:xfrm flipH="1" flipV="1">
            <a:off x="6209414" y="2913321"/>
            <a:ext cx="1275907" cy="27644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9" name="TextBox 18">
            <a:extLst>
              <a:ext uri="{FF2B5EF4-FFF2-40B4-BE49-F238E27FC236}">
                <a16:creationId xmlns:a16="http://schemas.microsoft.com/office/drawing/2014/main" id="{25817B86-5FB4-3F1B-DBF3-B9FEFF209796}"/>
              </a:ext>
            </a:extLst>
          </p:cNvPr>
          <p:cNvSpPr txBox="1"/>
          <p:nvPr/>
        </p:nvSpPr>
        <p:spPr>
          <a:xfrm>
            <a:off x="8888819" y="3479355"/>
            <a:ext cx="3519377" cy="584775"/>
          </a:xfrm>
          <a:prstGeom prst="rect">
            <a:avLst/>
          </a:prstGeom>
          <a:noFill/>
        </p:spPr>
        <p:txBody>
          <a:bodyPr wrap="square" rtlCol="0">
            <a:spAutoFit/>
          </a:bodyPr>
          <a:lstStyle/>
          <a:p>
            <a:r>
              <a:rPr lang="en-US" sz="1600" b="1" dirty="0"/>
              <a:t>Pulled only the fields I needed and renamed them</a:t>
            </a:r>
          </a:p>
        </p:txBody>
      </p:sp>
      <p:cxnSp>
        <p:nvCxnSpPr>
          <p:cNvPr id="21" name="Straight Arrow Connector 20">
            <a:extLst>
              <a:ext uri="{FF2B5EF4-FFF2-40B4-BE49-F238E27FC236}">
                <a16:creationId xmlns:a16="http://schemas.microsoft.com/office/drawing/2014/main" id="{84BF8FCF-AF5A-374B-E2C6-D1258817F2A6}"/>
              </a:ext>
            </a:extLst>
          </p:cNvPr>
          <p:cNvCxnSpPr>
            <a:stCxn id="19" idx="1"/>
          </p:cNvCxnSpPr>
          <p:nvPr/>
        </p:nvCxnSpPr>
        <p:spPr>
          <a:xfrm flipH="1" flipV="1">
            <a:off x="7102549" y="3559722"/>
            <a:ext cx="1786270" cy="21202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2" name="TextBox 21">
            <a:extLst>
              <a:ext uri="{FF2B5EF4-FFF2-40B4-BE49-F238E27FC236}">
                <a16:creationId xmlns:a16="http://schemas.microsoft.com/office/drawing/2014/main" id="{3C16671B-CE82-CA96-5ACB-D3479D9F43EF}"/>
              </a:ext>
            </a:extLst>
          </p:cNvPr>
          <p:cNvSpPr txBox="1"/>
          <p:nvPr/>
        </p:nvSpPr>
        <p:spPr>
          <a:xfrm>
            <a:off x="8444170" y="5236856"/>
            <a:ext cx="3795824" cy="338554"/>
          </a:xfrm>
          <a:prstGeom prst="rect">
            <a:avLst/>
          </a:prstGeom>
          <a:noFill/>
        </p:spPr>
        <p:txBody>
          <a:bodyPr wrap="square" rtlCol="0">
            <a:spAutoFit/>
          </a:bodyPr>
          <a:lstStyle/>
          <a:p>
            <a:r>
              <a:rPr lang="en-US" sz="1600" b="1" dirty="0"/>
              <a:t>Appended each pull to the same CSV</a:t>
            </a:r>
          </a:p>
        </p:txBody>
      </p:sp>
      <p:cxnSp>
        <p:nvCxnSpPr>
          <p:cNvPr id="24" name="Straight Arrow Connector 23">
            <a:extLst>
              <a:ext uri="{FF2B5EF4-FFF2-40B4-BE49-F238E27FC236}">
                <a16:creationId xmlns:a16="http://schemas.microsoft.com/office/drawing/2014/main" id="{01E64D7D-C79B-6611-5D22-9E92FA598CA3}"/>
              </a:ext>
            </a:extLst>
          </p:cNvPr>
          <p:cNvCxnSpPr/>
          <p:nvPr/>
        </p:nvCxnSpPr>
        <p:spPr>
          <a:xfrm flipH="1" flipV="1">
            <a:off x="6209414" y="5007935"/>
            <a:ext cx="2184991" cy="39340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5" name="TextBox 24">
            <a:extLst>
              <a:ext uri="{FF2B5EF4-FFF2-40B4-BE49-F238E27FC236}">
                <a16:creationId xmlns:a16="http://schemas.microsoft.com/office/drawing/2014/main" id="{F4D458E2-D4C3-80BE-FD20-C6B8550E5D3C}"/>
              </a:ext>
            </a:extLst>
          </p:cNvPr>
          <p:cNvSpPr txBox="1"/>
          <p:nvPr/>
        </p:nvSpPr>
        <p:spPr>
          <a:xfrm>
            <a:off x="2708571" y="5575410"/>
            <a:ext cx="3147237" cy="830997"/>
          </a:xfrm>
          <a:prstGeom prst="rect">
            <a:avLst/>
          </a:prstGeom>
          <a:noFill/>
        </p:spPr>
        <p:txBody>
          <a:bodyPr wrap="square" rtlCol="0">
            <a:spAutoFit/>
          </a:bodyPr>
          <a:lstStyle/>
          <a:p>
            <a:r>
              <a:rPr lang="en-US" sz="1600" b="1" dirty="0"/>
              <a:t>If WMATA fails, the loop doesn't crash, it just prints the error and moves on to the next agency.</a:t>
            </a:r>
          </a:p>
        </p:txBody>
      </p:sp>
      <p:cxnSp>
        <p:nvCxnSpPr>
          <p:cNvPr id="27" name="Straight Arrow Connector 26">
            <a:extLst>
              <a:ext uri="{FF2B5EF4-FFF2-40B4-BE49-F238E27FC236}">
                <a16:creationId xmlns:a16="http://schemas.microsoft.com/office/drawing/2014/main" id="{A20D1C6C-7623-B406-8041-980005A48C9A}"/>
              </a:ext>
            </a:extLst>
          </p:cNvPr>
          <p:cNvCxnSpPr>
            <a:stCxn id="25" idx="1"/>
          </p:cNvCxnSpPr>
          <p:nvPr/>
        </p:nvCxnSpPr>
        <p:spPr>
          <a:xfrm flipH="1" flipV="1">
            <a:off x="1180214" y="5204637"/>
            <a:ext cx="1528357" cy="786272"/>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10592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3B22BF-8A80-FC79-78D4-2EC5B12BCD73}"/>
              </a:ext>
            </a:extLst>
          </p:cNvPr>
          <p:cNvSpPr>
            <a:spLocks noGrp="1"/>
          </p:cNvSpPr>
          <p:nvPr>
            <p:ph idx="1"/>
          </p:nvPr>
        </p:nvSpPr>
        <p:spPr>
          <a:xfrm>
            <a:off x="6096000" y="1077686"/>
            <a:ext cx="5791200" cy="5099277"/>
          </a:xfrm>
        </p:spPr>
        <p:txBody>
          <a:bodyPr>
            <a:normAutofit/>
          </a:bodyPr>
          <a:lstStyle/>
          <a:p>
            <a:r>
              <a:rPr lang="en-US" dirty="0"/>
              <a:t>GTFS static is the scheduled timetable</a:t>
            </a:r>
          </a:p>
          <a:p>
            <a:pPr lvl="1"/>
            <a:r>
              <a:rPr lang="en-US" dirty="0"/>
              <a:t> Stop times, trip IDs, headway, deviation</a:t>
            </a:r>
          </a:p>
          <a:p>
            <a:r>
              <a:rPr lang="en-US" dirty="0"/>
              <a:t>Needed it to compute: scheduled headway, schedule deviation, timepoint rate, headway CV</a:t>
            </a:r>
          </a:p>
          <a:p>
            <a:r>
              <a:rPr lang="en-US" dirty="0"/>
              <a:t>MTA was the hardest, GTFS split across four borough zip files, route ID prefix mismatch</a:t>
            </a:r>
          </a:p>
        </p:txBody>
      </p:sp>
      <p:pic>
        <p:nvPicPr>
          <p:cNvPr id="4" name="Picture 3" descr="Create - General Transit Feed Specification">
            <a:extLst>
              <a:ext uri="{FF2B5EF4-FFF2-40B4-BE49-F238E27FC236}">
                <a16:creationId xmlns:a16="http://schemas.microsoft.com/office/drawing/2014/main" id="{D092A925-6B19-B825-950D-16E2664FC885}"/>
              </a:ext>
            </a:extLst>
          </p:cNvPr>
          <p:cNvPicPr>
            <a:picLocks noChangeAspect="1"/>
          </p:cNvPicPr>
          <p:nvPr/>
        </p:nvPicPr>
        <p:blipFill>
          <a:blip r:embed="rId2"/>
          <a:stretch>
            <a:fillRect/>
          </a:stretch>
        </p:blipFill>
        <p:spPr>
          <a:xfrm>
            <a:off x="0" y="1603494"/>
            <a:ext cx="6345880" cy="3651012"/>
          </a:xfrm>
          <a:prstGeom prst="rect">
            <a:avLst/>
          </a:prstGeom>
        </p:spPr>
      </p:pic>
    </p:spTree>
    <p:extLst>
      <p:ext uri="{BB962C8B-B14F-4D97-AF65-F5344CB8AC3E}">
        <p14:creationId xmlns:p14="http://schemas.microsoft.com/office/powerpoint/2010/main" val="1328022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4A4505A-A226-E23E-0475-0241DE703967}"/>
              </a:ext>
            </a:extLst>
          </p:cNvPr>
          <p:cNvPicPr>
            <a:picLocks noGrp="1" noChangeAspect="1"/>
          </p:cNvPicPr>
          <p:nvPr>
            <p:ph idx="1"/>
          </p:nvPr>
        </p:nvPicPr>
        <p:blipFill>
          <a:blip r:embed="rId2"/>
          <a:stretch>
            <a:fillRect/>
          </a:stretch>
        </p:blipFill>
        <p:spPr>
          <a:xfrm>
            <a:off x="57759" y="1303637"/>
            <a:ext cx="12076482" cy="4250725"/>
          </a:xfrm>
          <a:prstGeom prst="rect">
            <a:avLst/>
          </a:prstGeom>
        </p:spPr>
      </p:pic>
      <p:sp>
        <p:nvSpPr>
          <p:cNvPr id="6" name="TextBox 5">
            <a:extLst>
              <a:ext uri="{FF2B5EF4-FFF2-40B4-BE49-F238E27FC236}">
                <a16:creationId xmlns:a16="http://schemas.microsoft.com/office/drawing/2014/main" id="{1DF3898B-8CC3-CA2B-CCBB-45FDD4E86860}"/>
              </a:ext>
            </a:extLst>
          </p:cNvPr>
          <p:cNvSpPr txBox="1"/>
          <p:nvPr/>
        </p:nvSpPr>
        <p:spPr>
          <a:xfrm>
            <a:off x="6096000" y="468086"/>
            <a:ext cx="4539343" cy="584775"/>
          </a:xfrm>
          <a:prstGeom prst="rect">
            <a:avLst/>
          </a:prstGeom>
          <a:noFill/>
        </p:spPr>
        <p:txBody>
          <a:bodyPr wrap="square" rtlCol="0">
            <a:spAutoFit/>
          </a:bodyPr>
          <a:lstStyle/>
          <a:p>
            <a:r>
              <a:rPr lang="en-US" sz="1600" b="1" dirty="0"/>
              <a:t>MTA splits their static schedule across four separate files by borough</a:t>
            </a:r>
          </a:p>
        </p:txBody>
      </p:sp>
      <p:cxnSp>
        <p:nvCxnSpPr>
          <p:cNvPr id="8" name="Straight Arrow Connector 7">
            <a:extLst>
              <a:ext uri="{FF2B5EF4-FFF2-40B4-BE49-F238E27FC236}">
                <a16:creationId xmlns:a16="http://schemas.microsoft.com/office/drawing/2014/main" id="{CEBD911C-B966-D84D-B584-0EEF2C2BC4C4}"/>
              </a:ext>
            </a:extLst>
          </p:cNvPr>
          <p:cNvCxnSpPr>
            <a:stCxn id="6" idx="1"/>
          </p:cNvCxnSpPr>
          <p:nvPr/>
        </p:nvCxnSpPr>
        <p:spPr>
          <a:xfrm flipH="1">
            <a:off x="1034143" y="760474"/>
            <a:ext cx="5061857" cy="87238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9" name="TextBox 8">
            <a:extLst>
              <a:ext uri="{FF2B5EF4-FFF2-40B4-BE49-F238E27FC236}">
                <a16:creationId xmlns:a16="http://schemas.microsoft.com/office/drawing/2014/main" id="{BD66DEFA-BF5B-A2D8-FEC2-7070A88A3376}"/>
              </a:ext>
            </a:extLst>
          </p:cNvPr>
          <p:cNvSpPr txBox="1"/>
          <p:nvPr/>
        </p:nvSpPr>
        <p:spPr>
          <a:xfrm>
            <a:off x="6749144" y="2569028"/>
            <a:ext cx="4724400" cy="584775"/>
          </a:xfrm>
          <a:prstGeom prst="rect">
            <a:avLst/>
          </a:prstGeom>
          <a:noFill/>
        </p:spPr>
        <p:txBody>
          <a:bodyPr wrap="square" rtlCol="0">
            <a:spAutoFit/>
          </a:bodyPr>
          <a:lstStyle/>
          <a:p>
            <a:r>
              <a:rPr lang="en-US" sz="1600" b="1" dirty="0"/>
              <a:t>Loops through each borough, downloads the zip, saves it, and stores it in a dictionary</a:t>
            </a:r>
          </a:p>
        </p:txBody>
      </p:sp>
      <p:cxnSp>
        <p:nvCxnSpPr>
          <p:cNvPr id="11" name="Straight Arrow Connector 10">
            <a:extLst>
              <a:ext uri="{FF2B5EF4-FFF2-40B4-BE49-F238E27FC236}">
                <a16:creationId xmlns:a16="http://schemas.microsoft.com/office/drawing/2014/main" id="{D5217C0E-9637-CD09-8071-9C01FB3529B0}"/>
              </a:ext>
            </a:extLst>
          </p:cNvPr>
          <p:cNvCxnSpPr/>
          <p:nvPr/>
        </p:nvCxnSpPr>
        <p:spPr>
          <a:xfrm flipH="1">
            <a:off x="5355771" y="2841171"/>
            <a:ext cx="1360715" cy="19594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2" name="TextBox 11">
            <a:extLst>
              <a:ext uri="{FF2B5EF4-FFF2-40B4-BE49-F238E27FC236}">
                <a16:creationId xmlns:a16="http://schemas.microsoft.com/office/drawing/2014/main" id="{EA3DD4F9-B42C-F141-1CCF-47B63BD42477}"/>
              </a:ext>
            </a:extLst>
          </p:cNvPr>
          <p:cNvSpPr txBox="1"/>
          <p:nvPr/>
        </p:nvSpPr>
        <p:spPr>
          <a:xfrm>
            <a:off x="6593412" y="3153803"/>
            <a:ext cx="5540829" cy="338554"/>
          </a:xfrm>
          <a:prstGeom prst="rect">
            <a:avLst/>
          </a:prstGeom>
          <a:noFill/>
        </p:spPr>
        <p:txBody>
          <a:bodyPr wrap="square" rtlCol="0">
            <a:spAutoFit/>
          </a:bodyPr>
          <a:lstStyle/>
          <a:p>
            <a:r>
              <a:rPr lang="en-US" sz="1600" b="1" dirty="0"/>
              <a:t>Fail/safe - makes sure the download actually went through</a:t>
            </a:r>
          </a:p>
        </p:txBody>
      </p:sp>
      <p:cxnSp>
        <p:nvCxnSpPr>
          <p:cNvPr id="14" name="Straight Arrow Connector 13">
            <a:extLst>
              <a:ext uri="{FF2B5EF4-FFF2-40B4-BE49-F238E27FC236}">
                <a16:creationId xmlns:a16="http://schemas.microsoft.com/office/drawing/2014/main" id="{14A2603D-EEF6-EAF1-4329-086045B95AD3}"/>
              </a:ext>
            </a:extLst>
          </p:cNvPr>
          <p:cNvCxnSpPr/>
          <p:nvPr/>
        </p:nvCxnSpPr>
        <p:spPr>
          <a:xfrm flipH="1">
            <a:off x="4550229" y="3323080"/>
            <a:ext cx="2043183" cy="16927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5" name="TextBox 14">
            <a:extLst>
              <a:ext uri="{FF2B5EF4-FFF2-40B4-BE49-F238E27FC236}">
                <a16:creationId xmlns:a16="http://schemas.microsoft.com/office/drawing/2014/main" id="{614F9374-62D4-F83A-8C6C-8CEA07C7D846}"/>
              </a:ext>
            </a:extLst>
          </p:cNvPr>
          <p:cNvSpPr txBox="1"/>
          <p:nvPr/>
        </p:nvSpPr>
        <p:spPr>
          <a:xfrm>
            <a:off x="8120743" y="3938584"/>
            <a:ext cx="4071257" cy="584775"/>
          </a:xfrm>
          <a:prstGeom prst="rect">
            <a:avLst/>
          </a:prstGeom>
          <a:noFill/>
        </p:spPr>
        <p:txBody>
          <a:bodyPr wrap="square" rtlCol="0">
            <a:spAutoFit/>
          </a:bodyPr>
          <a:lstStyle/>
          <a:p>
            <a:r>
              <a:rPr lang="en-US" sz="1600" b="1" dirty="0"/>
              <a:t>Where the actual schedule data lives, combine from each borough for each field</a:t>
            </a:r>
          </a:p>
        </p:txBody>
      </p:sp>
      <p:cxnSp>
        <p:nvCxnSpPr>
          <p:cNvPr id="17" name="Straight Arrow Connector 16">
            <a:extLst>
              <a:ext uri="{FF2B5EF4-FFF2-40B4-BE49-F238E27FC236}">
                <a16:creationId xmlns:a16="http://schemas.microsoft.com/office/drawing/2014/main" id="{639555F9-252A-3328-EF7F-D956DF85239B}"/>
              </a:ext>
            </a:extLst>
          </p:cNvPr>
          <p:cNvCxnSpPr/>
          <p:nvPr/>
        </p:nvCxnSpPr>
        <p:spPr>
          <a:xfrm flipH="1">
            <a:off x="5693229" y="4191000"/>
            <a:ext cx="2416628" cy="413657"/>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18" name="TextBox 17">
            <a:extLst>
              <a:ext uri="{FF2B5EF4-FFF2-40B4-BE49-F238E27FC236}">
                <a16:creationId xmlns:a16="http://schemas.microsoft.com/office/drawing/2014/main" id="{5FFD4B7D-331C-50B9-A0C1-EBA8D4D93E6C}"/>
              </a:ext>
            </a:extLst>
          </p:cNvPr>
          <p:cNvSpPr txBox="1"/>
          <p:nvPr/>
        </p:nvSpPr>
        <p:spPr>
          <a:xfrm>
            <a:off x="5116286" y="5563513"/>
            <a:ext cx="3200400" cy="584775"/>
          </a:xfrm>
          <a:prstGeom prst="rect">
            <a:avLst/>
          </a:prstGeom>
          <a:noFill/>
        </p:spPr>
        <p:txBody>
          <a:bodyPr wrap="square" rtlCol="0">
            <a:spAutoFit/>
          </a:bodyPr>
          <a:lstStyle/>
          <a:p>
            <a:r>
              <a:rPr lang="en-US" sz="1600" b="1" dirty="0"/>
              <a:t>Used to map each trip ID to which days of the week it runs</a:t>
            </a:r>
          </a:p>
        </p:txBody>
      </p:sp>
      <p:cxnSp>
        <p:nvCxnSpPr>
          <p:cNvPr id="20" name="Straight Arrow Connector 19">
            <a:extLst>
              <a:ext uri="{FF2B5EF4-FFF2-40B4-BE49-F238E27FC236}">
                <a16:creationId xmlns:a16="http://schemas.microsoft.com/office/drawing/2014/main" id="{FE7671EC-7382-6594-9915-D1AB64E5879C}"/>
              </a:ext>
            </a:extLst>
          </p:cNvPr>
          <p:cNvCxnSpPr>
            <a:cxnSpLocks/>
            <a:stCxn id="18" idx="1"/>
          </p:cNvCxnSpPr>
          <p:nvPr/>
        </p:nvCxnSpPr>
        <p:spPr>
          <a:xfrm flipH="1" flipV="1">
            <a:off x="1208314" y="5162575"/>
            <a:ext cx="3907972" cy="69332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1" name="TextBox 20">
            <a:extLst>
              <a:ext uri="{FF2B5EF4-FFF2-40B4-BE49-F238E27FC236}">
                <a16:creationId xmlns:a16="http://schemas.microsoft.com/office/drawing/2014/main" id="{0CF4D4A9-EAA0-4D20-03ED-D8E4BC3EA7D5}"/>
              </a:ext>
            </a:extLst>
          </p:cNvPr>
          <p:cNvSpPr txBox="1"/>
          <p:nvPr/>
        </p:nvSpPr>
        <p:spPr>
          <a:xfrm>
            <a:off x="117630" y="6012881"/>
            <a:ext cx="5344886" cy="830997"/>
          </a:xfrm>
          <a:prstGeom prst="rect">
            <a:avLst/>
          </a:prstGeom>
          <a:noFill/>
        </p:spPr>
        <p:txBody>
          <a:bodyPr wrap="square" rtlCol="0">
            <a:spAutoFit/>
          </a:bodyPr>
          <a:lstStyle/>
          <a:p>
            <a:r>
              <a:rPr lang="en-US" sz="1600" b="1" dirty="0"/>
              <a:t>Has scheduled arrival time at each stop for every trip, which is what I used to compute scheduled headway and schedule deviation.</a:t>
            </a:r>
          </a:p>
        </p:txBody>
      </p:sp>
      <p:cxnSp>
        <p:nvCxnSpPr>
          <p:cNvPr id="24" name="Straight Arrow Connector 23">
            <a:extLst>
              <a:ext uri="{FF2B5EF4-FFF2-40B4-BE49-F238E27FC236}">
                <a16:creationId xmlns:a16="http://schemas.microsoft.com/office/drawing/2014/main" id="{920970A7-D133-10F1-723E-B6DE48885CD5}"/>
              </a:ext>
            </a:extLst>
          </p:cNvPr>
          <p:cNvCxnSpPr/>
          <p:nvPr/>
        </p:nvCxnSpPr>
        <p:spPr>
          <a:xfrm flipH="1" flipV="1">
            <a:off x="664029" y="5421086"/>
            <a:ext cx="674914" cy="591795"/>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104159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7BADBFD-45C6-B49E-CC40-496595F82936}"/>
              </a:ext>
            </a:extLst>
          </p:cNvPr>
          <p:cNvPicPr>
            <a:picLocks noGrp="1" noChangeAspect="1"/>
          </p:cNvPicPr>
          <p:nvPr>
            <p:ph idx="1"/>
          </p:nvPr>
        </p:nvPicPr>
        <p:blipFill>
          <a:blip r:embed="rId2"/>
          <a:stretch>
            <a:fillRect/>
          </a:stretch>
        </p:blipFill>
        <p:spPr>
          <a:xfrm>
            <a:off x="5909290" y="365125"/>
            <a:ext cx="6021332" cy="3724687"/>
          </a:xfrm>
          <a:prstGeom prst="rect">
            <a:avLst/>
          </a:prstGeom>
        </p:spPr>
      </p:pic>
      <p:sp>
        <p:nvSpPr>
          <p:cNvPr id="8" name="TextBox 7">
            <a:extLst>
              <a:ext uri="{FF2B5EF4-FFF2-40B4-BE49-F238E27FC236}">
                <a16:creationId xmlns:a16="http://schemas.microsoft.com/office/drawing/2014/main" id="{7D97211E-E9B5-441B-5BB9-A60C73FB4CF4}"/>
              </a:ext>
            </a:extLst>
          </p:cNvPr>
          <p:cNvSpPr txBox="1"/>
          <p:nvPr/>
        </p:nvSpPr>
        <p:spPr>
          <a:xfrm>
            <a:off x="304800" y="174171"/>
            <a:ext cx="5486400" cy="6555641"/>
          </a:xfrm>
          <a:prstGeom prst="rect">
            <a:avLst/>
          </a:prstGeom>
          <a:noFill/>
        </p:spPr>
        <p:txBody>
          <a:bodyPr wrap="square" rtlCol="0">
            <a:spAutoFit/>
          </a:bodyPr>
          <a:lstStyle/>
          <a:p>
            <a:pPr marL="285750" indent="-285750">
              <a:buFont typeface="Arial" panose="020B0604020202020204" pitchFamily="34" charset="0"/>
              <a:buChar char="•"/>
            </a:pPr>
            <a:r>
              <a:rPr lang="en-US" sz="2000" b="1" dirty="0"/>
              <a:t>Headway Deviation</a:t>
            </a:r>
            <a:r>
              <a:rPr lang="en-US" sz="2000" dirty="0"/>
              <a:t> — How many minutes early or late per vehicle obs. Diff between scheduled and live stop times.</a:t>
            </a:r>
          </a:p>
          <a:p>
            <a:pPr marL="285750" indent="-285750">
              <a:buFont typeface="Arial" panose="020B0604020202020204" pitchFamily="34" charset="0"/>
              <a:buChar char="•"/>
            </a:pPr>
            <a:r>
              <a:rPr lang="en-US" sz="2000" b="1" dirty="0"/>
              <a:t>Bunching</a:t>
            </a:r>
            <a:r>
              <a:rPr lang="en-US" sz="2000" dirty="0"/>
              <a:t> — Binary variable equal to 1 when two buses are less than half the scheduled headway apart in time, meaning they are too close together. About 25% of observations are bunching events.</a:t>
            </a:r>
          </a:p>
          <a:p>
            <a:pPr marL="285750" indent="-285750">
              <a:buFont typeface="Arial" panose="020B0604020202020204" pitchFamily="34" charset="0"/>
              <a:buChar char="•"/>
            </a:pPr>
            <a:r>
              <a:rPr lang="en-US" sz="2000" b="1" dirty="0"/>
              <a:t>Scheduled Headway</a:t>
            </a:r>
            <a:r>
              <a:rPr lang="en-US" sz="2000" dirty="0"/>
              <a:t> — Planned time between consecutive trips on the same route, averages 12 minutes.</a:t>
            </a:r>
          </a:p>
          <a:p>
            <a:pPr marL="285750" indent="-285750">
              <a:buFont typeface="Arial" panose="020B0604020202020204" pitchFamily="34" charset="0"/>
              <a:buChar char="•"/>
            </a:pPr>
            <a:r>
              <a:rPr lang="en-US" sz="2000" b="1" dirty="0"/>
              <a:t>Peak Hour</a:t>
            </a:r>
            <a:r>
              <a:rPr lang="en-US" sz="2000" dirty="0"/>
              <a:t> — Binary flag for morning/evening peak. About half of observations fall in peak periods.</a:t>
            </a:r>
          </a:p>
          <a:p>
            <a:pPr marL="285750" indent="-285750">
              <a:buFont typeface="Arial" panose="020B0604020202020204" pitchFamily="34" charset="0"/>
              <a:buChar char="•"/>
            </a:pPr>
            <a:r>
              <a:rPr lang="en-US" sz="2000" b="1" dirty="0"/>
              <a:t>Timepoint Rate</a:t>
            </a:r>
            <a:r>
              <a:rPr lang="en-US" sz="2000" dirty="0"/>
              <a:t> — Timepoints are designated stops where buses must hit exact scheduled times. This variable measures the share of a route's stops that are timepoints. </a:t>
            </a:r>
          </a:p>
          <a:p>
            <a:pPr marL="285750" indent="-285750">
              <a:buFont typeface="Arial" panose="020B0604020202020204" pitchFamily="34" charset="0"/>
              <a:buChar char="•"/>
            </a:pPr>
            <a:r>
              <a:rPr lang="en-US" sz="2000" b="1" dirty="0"/>
              <a:t>Headway CV</a:t>
            </a:r>
            <a:r>
              <a:rPr lang="en-US" sz="2000" dirty="0"/>
              <a:t> — Standard deviation of headway divided by the mean. Measures how consistent trip spacing is throughout the day.</a:t>
            </a:r>
          </a:p>
        </p:txBody>
      </p:sp>
      <p:pic>
        <p:nvPicPr>
          <p:cNvPr id="9" name="Picture 8" descr="So This Is Canada: 12 Unguarded Observations of a Returning Canadian –  Breaking Moulds">
            <a:extLst>
              <a:ext uri="{FF2B5EF4-FFF2-40B4-BE49-F238E27FC236}">
                <a16:creationId xmlns:a16="http://schemas.microsoft.com/office/drawing/2014/main" id="{AA3ADE4E-DAB6-36E6-A4AA-C0908E94E61D}"/>
              </a:ext>
            </a:extLst>
          </p:cNvPr>
          <p:cNvPicPr>
            <a:picLocks noChangeAspect="1"/>
          </p:cNvPicPr>
          <p:nvPr/>
        </p:nvPicPr>
        <p:blipFill>
          <a:blip r:embed="rId3"/>
          <a:stretch>
            <a:fillRect/>
          </a:stretch>
        </p:blipFill>
        <p:spPr>
          <a:xfrm>
            <a:off x="6959622" y="3989349"/>
            <a:ext cx="3653950" cy="2740463"/>
          </a:xfrm>
          <a:prstGeom prst="rect">
            <a:avLst/>
          </a:prstGeom>
        </p:spPr>
      </p:pic>
    </p:spTree>
    <p:extLst>
      <p:ext uri="{BB962C8B-B14F-4D97-AF65-F5344CB8AC3E}">
        <p14:creationId xmlns:p14="http://schemas.microsoft.com/office/powerpoint/2010/main" val="4228066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1CB198-CE6A-38D5-505C-FE68D7111675}"/>
              </a:ext>
            </a:extLst>
          </p:cNvPr>
          <p:cNvSpPr>
            <a:spLocks noGrp="1"/>
          </p:cNvSpPr>
          <p:nvPr>
            <p:ph idx="1"/>
          </p:nvPr>
        </p:nvSpPr>
        <p:spPr>
          <a:xfrm>
            <a:off x="838200" y="5494057"/>
            <a:ext cx="10515600" cy="1018572"/>
          </a:xfrm>
        </p:spPr>
        <p:txBody>
          <a:bodyPr>
            <a:normAutofit lnSpcReduction="10000"/>
          </a:bodyPr>
          <a:lstStyle/>
          <a:p>
            <a:r>
              <a:rPr lang="en-US" sz="1600" b="1" dirty="0"/>
              <a:t>MTA has the highest bunching rate at 35%, followed by MBTA at 28% and WMATA at 20%, meaningful variation across agencies</a:t>
            </a:r>
          </a:p>
          <a:p>
            <a:r>
              <a:rPr lang="en-US" sz="1600" b="1" dirty="0"/>
              <a:t>Bunching drops from 36–45% on high-frequency routes to under 5% on low frequency routes, consistent across all three agencies, suggesting scheduled headway is a structural predictor of bunching.</a:t>
            </a:r>
          </a:p>
        </p:txBody>
      </p:sp>
      <p:pic>
        <p:nvPicPr>
          <p:cNvPr id="4" name="Content Placeholder 4">
            <a:extLst>
              <a:ext uri="{FF2B5EF4-FFF2-40B4-BE49-F238E27FC236}">
                <a16:creationId xmlns:a16="http://schemas.microsoft.com/office/drawing/2014/main" id="{0A4AA642-A5AB-5F52-DA3D-42F4E94C2303}"/>
              </a:ext>
            </a:extLst>
          </p:cNvPr>
          <p:cNvPicPr>
            <a:picLocks noChangeAspect="1"/>
          </p:cNvPicPr>
          <p:nvPr/>
        </p:nvPicPr>
        <p:blipFill>
          <a:blip r:embed="rId2"/>
          <a:stretch>
            <a:fillRect/>
          </a:stretch>
        </p:blipFill>
        <p:spPr>
          <a:xfrm>
            <a:off x="71377" y="854657"/>
            <a:ext cx="12049246" cy="4458223"/>
          </a:xfrm>
          <a:prstGeom prst="rect">
            <a:avLst/>
          </a:prstGeom>
        </p:spPr>
      </p:pic>
    </p:spTree>
    <p:extLst>
      <p:ext uri="{BB962C8B-B14F-4D97-AF65-F5344CB8AC3E}">
        <p14:creationId xmlns:p14="http://schemas.microsoft.com/office/powerpoint/2010/main" val="373480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BB6673C-BC4B-C560-DBC3-4A8389D7E341}"/>
              </a:ext>
            </a:extLst>
          </p:cNvPr>
          <p:cNvPicPr>
            <a:picLocks noGrp="1" noChangeAspect="1"/>
          </p:cNvPicPr>
          <p:nvPr>
            <p:ph idx="1"/>
          </p:nvPr>
        </p:nvPicPr>
        <p:blipFill>
          <a:blip r:embed="rId2"/>
          <a:stretch>
            <a:fillRect/>
          </a:stretch>
        </p:blipFill>
        <p:spPr>
          <a:xfrm>
            <a:off x="1769477" y="112572"/>
            <a:ext cx="8566716" cy="5675450"/>
          </a:xfrm>
          <a:prstGeom prst="rect">
            <a:avLst/>
          </a:prstGeom>
        </p:spPr>
      </p:pic>
      <p:sp>
        <p:nvSpPr>
          <p:cNvPr id="6" name="TextBox 5">
            <a:extLst>
              <a:ext uri="{FF2B5EF4-FFF2-40B4-BE49-F238E27FC236}">
                <a16:creationId xmlns:a16="http://schemas.microsoft.com/office/drawing/2014/main" id="{DAE44840-83A2-1DB9-A7B0-D44417DA9B28}"/>
              </a:ext>
            </a:extLst>
          </p:cNvPr>
          <p:cNvSpPr txBox="1"/>
          <p:nvPr/>
        </p:nvSpPr>
        <p:spPr>
          <a:xfrm>
            <a:off x="111887" y="5688449"/>
            <a:ext cx="11968223" cy="1169551"/>
          </a:xfrm>
          <a:prstGeom prst="rect">
            <a:avLst/>
          </a:prstGeom>
          <a:noFill/>
        </p:spPr>
        <p:txBody>
          <a:bodyPr wrap="square" rtlCol="0">
            <a:spAutoFit/>
          </a:bodyPr>
          <a:lstStyle/>
          <a:p>
            <a:r>
              <a:rPr lang="en-US" sz="1400" b="1" dirty="0"/>
              <a:t>- MBTA: Wider spread and extending further into negative territory meaning early buses (routes run ahead of schedule).</a:t>
            </a:r>
          </a:p>
          <a:p>
            <a:r>
              <a:rPr lang="en-US" sz="1400" b="1" dirty="0"/>
              <a:t>- MTA: The widest shape overall, bulges more on the positive side (meaning late), confirming MTA buses run the latest on average with the most variance</a:t>
            </a:r>
          </a:p>
          <a:p>
            <a:r>
              <a:rPr lang="en-US" sz="1400" b="1" dirty="0"/>
              <a:t>- WMATA: More narrow and shape centered just above 0, meaning most buses are close to on time with a relatively low variance; showing a much tighter distribution.</a:t>
            </a:r>
          </a:p>
        </p:txBody>
      </p:sp>
    </p:spTree>
    <p:extLst>
      <p:ext uri="{BB962C8B-B14F-4D97-AF65-F5344CB8AC3E}">
        <p14:creationId xmlns:p14="http://schemas.microsoft.com/office/powerpoint/2010/main" val="3383775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5B8FC50-3311-A8BF-1B57-6FCD4392F7F5}"/>
              </a:ext>
            </a:extLst>
          </p:cNvPr>
          <p:cNvPicPr>
            <a:picLocks noGrp="1" noChangeAspect="1"/>
          </p:cNvPicPr>
          <p:nvPr>
            <p:ph idx="1"/>
          </p:nvPr>
        </p:nvPicPr>
        <p:blipFill>
          <a:blip r:embed="rId2"/>
          <a:stretch>
            <a:fillRect/>
          </a:stretch>
        </p:blipFill>
        <p:spPr>
          <a:xfrm>
            <a:off x="1233475" y="112572"/>
            <a:ext cx="9725047" cy="5791321"/>
          </a:xfrm>
          <a:prstGeom prst="rect">
            <a:avLst/>
          </a:prstGeom>
        </p:spPr>
      </p:pic>
      <p:sp>
        <p:nvSpPr>
          <p:cNvPr id="6" name="TextBox 5">
            <a:extLst>
              <a:ext uri="{FF2B5EF4-FFF2-40B4-BE49-F238E27FC236}">
                <a16:creationId xmlns:a16="http://schemas.microsoft.com/office/drawing/2014/main" id="{BCB8336A-5531-F594-A2C9-01B31ABAC8B6}"/>
              </a:ext>
            </a:extLst>
          </p:cNvPr>
          <p:cNvSpPr txBox="1"/>
          <p:nvPr/>
        </p:nvSpPr>
        <p:spPr>
          <a:xfrm>
            <a:off x="297083" y="5903893"/>
            <a:ext cx="11597833" cy="954107"/>
          </a:xfrm>
          <a:prstGeom prst="rect">
            <a:avLst/>
          </a:prstGeom>
          <a:noFill/>
        </p:spPr>
        <p:txBody>
          <a:bodyPr wrap="square" rtlCol="0">
            <a:spAutoFit/>
          </a:bodyPr>
          <a:lstStyle/>
          <a:p>
            <a:r>
              <a:rPr lang="en-US" sz="1400" b="1" dirty="0"/>
              <a:t>- MBTA has low timepoint rates but high CV</a:t>
            </a:r>
          </a:p>
          <a:p>
            <a:r>
              <a:rPr lang="en-US" sz="1400" b="1" dirty="0"/>
              <a:t>- WMATA clusters at the bottom, more consistent headways - suggesting more timepoints does correlate with better spacing</a:t>
            </a:r>
          </a:p>
          <a:p>
            <a:r>
              <a:rPr lang="en-US" sz="1400" b="1" dirty="0"/>
              <a:t>- MTA has the widest spread, bunching is route specific, not system wide</a:t>
            </a:r>
          </a:p>
          <a:p>
            <a:r>
              <a:rPr lang="en-US" sz="1400" b="1" dirty="0"/>
              <a:t>- Overall: Higher timepoint rates are associated with more consistent headways</a:t>
            </a:r>
          </a:p>
        </p:txBody>
      </p:sp>
    </p:spTree>
    <p:extLst>
      <p:ext uri="{BB962C8B-B14F-4D97-AF65-F5344CB8AC3E}">
        <p14:creationId xmlns:p14="http://schemas.microsoft.com/office/powerpoint/2010/main" val="109675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9C6AE2-EC29-F590-FA3E-A12ABF5068D5}"/>
              </a:ext>
            </a:extLst>
          </p:cNvPr>
          <p:cNvPicPr>
            <a:picLocks noGrp="1" noChangeAspect="1"/>
          </p:cNvPicPr>
          <p:nvPr>
            <p:ph idx="1"/>
          </p:nvPr>
        </p:nvPicPr>
        <p:blipFill>
          <a:blip r:embed="rId2"/>
          <a:stretch>
            <a:fillRect/>
          </a:stretch>
        </p:blipFill>
        <p:spPr>
          <a:xfrm>
            <a:off x="234777" y="18814"/>
            <a:ext cx="4361935" cy="6839186"/>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7512C1A6-B798-1E28-23C6-720F9CAFEBF8}"/>
                  </a:ext>
                </a:extLst>
              </p14:cNvPr>
              <p14:cNvContentPartPr/>
              <p14:nvPr/>
            </p14:nvContentPartPr>
            <p14:xfrm>
              <a:off x="359058" y="1178036"/>
              <a:ext cx="2427120" cy="36720"/>
            </p14:xfrm>
          </p:contentPart>
        </mc:Choice>
        <mc:Fallback>
          <p:pic>
            <p:nvPicPr>
              <p:cNvPr id="6" name="Ink 5">
                <a:extLst>
                  <a:ext uri="{FF2B5EF4-FFF2-40B4-BE49-F238E27FC236}">
                    <a16:creationId xmlns:a16="http://schemas.microsoft.com/office/drawing/2014/main" id="{7512C1A6-B798-1E28-23C6-720F9CAFEBF8}"/>
                  </a:ext>
                </a:extLst>
              </p:cNvPr>
              <p:cNvPicPr/>
              <p:nvPr/>
            </p:nvPicPr>
            <p:blipFill>
              <a:blip r:embed="rId4"/>
              <a:stretch>
                <a:fillRect/>
              </a:stretch>
            </p:blipFill>
            <p:spPr>
              <a:xfrm>
                <a:off x="305418" y="1070036"/>
                <a:ext cx="2534760" cy="2523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8E3CED61-FEAE-3E71-1EFE-27B7069D784D}"/>
                  </a:ext>
                </a:extLst>
              </p14:cNvPr>
              <p14:cNvContentPartPr/>
              <p14:nvPr/>
            </p14:nvContentPartPr>
            <p14:xfrm>
              <a:off x="311898" y="3742316"/>
              <a:ext cx="2414160" cy="32040"/>
            </p14:xfrm>
          </p:contentPart>
        </mc:Choice>
        <mc:Fallback>
          <p:pic>
            <p:nvPicPr>
              <p:cNvPr id="8" name="Ink 7">
                <a:extLst>
                  <a:ext uri="{FF2B5EF4-FFF2-40B4-BE49-F238E27FC236}">
                    <a16:creationId xmlns:a16="http://schemas.microsoft.com/office/drawing/2014/main" id="{8E3CED61-FEAE-3E71-1EFE-27B7069D784D}"/>
                  </a:ext>
                </a:extLst>
              </p:cNvPr>
              <p:cNvPicPr/>
              <p:nvPr/>
            </p:nvPicPr>
            <p:blipFill>
              <a:blip r:embed="rId6"/>
              <a:stretch>
                <a:fillRect/>
              </a:stretch>
            </p:blipFill>
            <p:spPr>
              <a:xfrm>
                <a:off x="257898" y="3634676"/>
                <a:ext cx="252180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1" name="Ink 10">
                <a:extLst>
                  <a:ext uri="{FF2B5EF4-FFF2-40B4-BE49-F238E27FC236}">
                    <a16:creationId xmlns:a16="http://schemas.microsoft.com/office/drawing/2014/main" id="{F1DF4133-F1E1-A019-55F0-6CB2982D0F99}"/>
                  </a:ext>
                </a:extLst>
              </p14:cNvPr>
              <p14:cNvContentPartPr/>
              <p14:nvPr/>
            </p14:nvContentPartPr>
            <p14:xfrm>
              <a:off x="318378" y="4621796"/>
              <a:ext cx="2436120" cy="25560"/>
            </p14:xfrm>
          </p:contentPart>
        </mc:Choice>
        <mc:Fallback>
          <p:pic>
            <p:nvPicPr>
              <p:cNvPr id="11" name="Ink 10">
                <a:extLst>
                  <a:ext uri="{FF2B5EF4-FFF2-40B4-BE49-F238E27FC236}">
                    <a16:creationId xmlns:a16="http://schemas.microsoft.com/office/drawing/2014/main" id="{F1DF4133-F1E1-A019-55F0-6CB2982D0F99}"/>
                  </a:ext>
                </a:extLst>
              </p:cNvPr>
              <p:cNvPicPr/>
              <p:nvPr/>
            </p:nvPicPr>
            <p:blipFill>
              <a:blip r:embed="rId8"/>
              <a:stretch>
                <a:fillRect/>
              </a:stretch>
            </p:blipFill>
            <p:spPr>
              <a:xfrm>
                <a:off x="264738" y="4514156"/>
                <a:ext cx="2543760" cy="2412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5" name="Ink 14">
                <a:extLst>
                  <a:ext uri="{FF2B5EF4-FFF2-40B4-BE49-F238E27FC236}">
                    <a16:creationId xmlns:a16="http://schemas.microsoft.com/office/drawing/2014/main" id="{5AA95CB1-09AC-07B0-17FC-FA83F1FF5130}"/>
                  </a:ext>
                </a:extLst>
              </p14:cNvPr>
              <p14:cNvContentPartPr/>
              <p14:nvPr/>
            </p14:nvContentPartPr>
            <p14:xfrm>
              <a:off x="293898" y="1576916"/>
              <a:ext cx="2436120" cy="75600"/>
            </p14:xfrm>
          </p:contentPart>
        </mc:Choice>
        <mc:Fallback>
          <p:pic>
            <p:nvPicPr>
              <p:cNvPr id="15" name="Ink 14">
                <a:extLst>
                  <a:ext uri="{FF2B5EF4-FFF2-40B4-BE49-F238E27FC236}">
                    <a16:creationId xmlns:a16="http://schemas.microsoft.com/office/drawing/2014/main" id="{5AA95CB1-09AC-07B0-17FC-FA83F1FF5130}"/>
                  </a:ext>
                </a:extLst>
              </p:cNvPr>
              <p:cNvPicPr/>
              <p:nvPr/>
            </p:nvPicPr>
            <p:blipFill>
              <a:blip r:embed="rId10"/>
              <a:stretch>
                <a:fillRect/>
              </a:stretch>
            </p:blipFill>
            <p:spPr>
              <a:xfrm>
                <a:off x="240258" y="1468916"/>
                <a:ext cx="2543760" cy="2912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7" name="Ink 16">
                <a:extLst>
                  <a:ext uri="{FF2B5EF4-FFF2-40B4-BE49-F238E27FC236}">
                    <a16:creationId xmlns:a16="http://schemas.microsoft.com/office/drawing/2014/main" id="{A36A179C-64E4-75FA-E5A9-20B9D324AF8C}"/>
                  </a:ext>
                </a:extLst>
              </p14:cNvPr>
              <p14:cNvContentPartPr/>
              <p14:nvPr/>
            </p14:nvContentPartPr>
            <p14:xfrm>
              <a:off x="341418" y="2027996"/>
              <a:ext cx="3908880" cy="53640"/>
            </p14:xfrm>
          </p:contentPart>
        </mc:Choice>
        <mc:Fallback>
          <p:pic>
            <p:nvPicPr>
              <p:cNvPr id="17" name="Ink 16">
                <a:extLst>
                  <a:ext uri="{FF2B5EF4-FFF2-40B4-BE49-F238E27FC236}">
                    <a16:creationId xmlns:a16="http://schemas.microsoft.com/office/drawing/2014/main" id="{A36A179C-64E4-75FA-E5A9-20B9D324AF8C}"/>
                  </a:ext>
                </a:extLst>
              </p:cNvPr>
              <p:cNvPicPr/>
              <p:nvPr/>
            </p:nvPicPr>
            <p:blipFill>
              <a:blip r:embed="rId12"/>
              <a:stretch>
                <a:fillRect/>
              </a:stretch>
            </p:blipFill>
            <p:spPr>
              <a:xfrm>
                <a:off x="287778" y="1919996"/>
                <a:ext cx="4016520" cy="269280"/>
              </a:xfrm>
              <a:prstGeom prst="rect">
                <a:avLst/>
              </a:prstGeom>
            </p:spPr>
          </p:pic>
        </mc:Fallback>
      </mc:AlternateContent>
      <p:sp>
        <p:nvSpPr>
          <p:cNvPr id="19" name="TextBox 18">
            <a:extLst>
              <a:ext uri="{FF2B5EF4-FFF2-40B4-BE49-F238E27FC236}">
                <a16:creationId xmlns:a16="http://schemas.microsoft.com/office/drawing/2014/main" id="{88469C81-4E13-ABAA-EF71-50454F7A0291}"/>
              </a:ext>
            </a:extLst>
          </p:cNvPr>
          <p:cNvSpPr txBox="1"/>
          <p:nvPr/>
        </p:nvSpPr>
        <p:spPr>
          <a:xfrm>
            <a:off x="5113867" y="1028343"/>
            <a:ext cx="6604000" cy="4801314"/>
          </a:xfrm>
          <a:prstGeom prst="rect">
            <a:avLst/>
          </a:prstGeom>
          <a:noFill/>
        </p:spPr>
        <p:txBody>
          <a:bodyPr wrap="square" rtlCol="0">
            <a:spAutoFit/>
          </a:bodyPr>
          <a:lstStyle/>
          <a:p>
            <a:r>
              <a:rPr lang="en-US" b="1" dirty="0"/>
              <a:t>Agency: MTA &amp; WMATA</a:t>
            </a:r>
            <a:r>
              <a:rPr lang="en-US" dirty="0"/>
              <a:t> — Both show significantly higher deviation than MBTA. WMATA averages 1.43 minutes more deviation, MTA 1.19 minutes more.</a:t>
            </a:r>
          </a:p>
          <a:p>
            <a:endParaRPr lang="en-US" dirty="0"/>
          </a:p>
          <a:p>
            <a:r>
              <a:rPr lang="en-US" b="1" dirty="0"/>
              <a:t>Scheduled Headway</a:t>
            </a:r>
            <a:r>
              <a:rPr lang="en-US" dirty="0"/>
              <a:t> — Sign flips between models. Pooled: longer headways mean less deviation. </a:t>
            </a:r>
          </a:p>
          <a:p>
            <a:r>
              <a:rPr lang="en-US" dirty="0"/>
              <a:t>- Add route fixed effects: longer headways mean more deviation. The cross-sectional and within-route stories are opposite.</a:t>
            </a:r>
          </a:p>
          <a:p>
            <a:endParaRPr lang="en-US" dirty="0"/>
          </a:p>
          <a:p>
            <a:r>
              <a:rPr lang="en-US" b="1" dirty="0"/>
              <a:t>Timepoint Rate</a:t>
            </a:r>
            <a:r>
              <a:rPr lang="en-US" dirty="0"/>
              <a:t> — A 10 percentage point increase in timepoint rate is associated with 0.55 more minutes of deviation. Buses are being held at timepoints, which inflates deviation.</a:t>
            </a:r>
          </a:p>
          <a:p>
            <a:endParaRPr lang="en-US" dirty="0"/>
          </a:p>
          <a:p>
            <a:r>
              <a:rPr lang="en-US" b="1" dirty="0"/>
              <a:t>Headway CV</a:t>
            </a:r>
            <a:r>
              <a:rPr lang="en-US" dirty="0"/>
              <a:t> — A 10 percentage point increase in headway CV is associated with 0.13 fewer minutes of deviation. Routes with more variable spacing throughout the day tend to have lower deviation, likely reflecting active schedule management.</a:t>
            </a:r>
          </a:p>
        </p:txBody>
      </p:sp>
    </p:spTree>
    <p:extLst>
      <p:ext uri="{BB962C8B-B14F-4D97-AF65-F5344CB8AC3E}">
        <p14:creationId xmlns:p14="http://schemas.microsoft.com/office/powerpoint/2010/main" val="965182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9EE6788-228A-6A54-EEEF-3D33B648D905}"/>
              </a:ext>
            </a:extLst>
          </p:cNvPr>
          <p:cNvPicPr>
            <a:picLocks noGrp="1" noChangeAspect="1"/>
          </p:cNvPicPr>
          <p:nvPr>
            <p:ph idx="1"/>
          </p:nvPr>
        </p:nvPicPr>
        <p:blipFill>
          <a:blip r:embed="rId2"/>
          <a:stretch>
            <a:fillRect/>
          </a:stretch>
        </p:blipFill>
        <p:spPr>
          <a:xfrm>
            <a:off x="6559739" y="7816"/>
            <a:ext cx="5530703" cy="6842367"/>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6AA5F2C9-8E22-AAFC-337F-FD527DED1454}"/>
                  </a:ext>
                </a:extLst>
              </p14:cNvPr>
              <p14:cNvContentPartPr/>
              <p14:nvPr/>
            </p14:nvContentPartPr>
            <p14:xfrm>
              <a:off x="6596882" y="4236681"/>
              <a:ext cx="2273400" cy="45720"/>
            </p14:xfrm>
          </p:contentPart>
        </mc:Choice>
        <mc:Fallback>
          <p:pic>
            <p:nvPicPr>
              <p:cNvPr id="6" name="Ink 5">
                <a:extLst>
                  <a:ext uri="{FF2B5EF4-FFF2-40B4-BE49-F238E27FC236}">
                    <a16:creationId xmlns:a16="http://schemas.microsoft.com/office/drawing/2014/main" id="{6AA5F2C9-8E22-AAFC-337F-FD527DED1454}"/>
                  </a:ext>
                </a:extLst>
              </p:cNvPr>
              <p:cNvPicPr/>
              <p:nvPr/>
            </p:nvPicPr>
            <p:blipFill>
              <a:blip r:embed="rId4"/>
              <a:stretch>
                <a:fillRect/>
              </a:stretch>
            </p:blipFill>
            <p:spPr>
              <a:xfrm>
                <a:off x="6542882" y="4129041"/>
                <a:ext cx="2381040" cy="2613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7" name="Ink 6">
                <a:extLst>
                  <a:ext uri="{FF2B5EF4-FFF2-40B4-BE49-F238E27FC236}">
                    <a16:creationId xmlns:a16="http://schemas.microsoft.com/office/drawing/2014/main" id="{F08A5383-476F-83F2-AC56-59238233A234}"/>
                  </a:ext>
                </a:extLst>
              </p14:cNvPr>
              <p14:cNvContentPartPr/>
              <p14:nvPr/>
            </p14:nvContentPartPr>
            <p14:xfrm>
              <a:off x="6590762" y="4602081"/>
              <a:ext cx="2273040" cy="45000"/>
            </p14:xfrm>
          </p:contentPart>
        </mc:Choice>
        <mc:Fallback>
          <p:pic>
            <p:nvPicPr>
              <p:cNvPr id="7" name="Ink 6">
                <a:extLst>
                  <a:ext uri="{FF2B5EF4-FFF2-40B4-BE49-F238E27FC236}">
                    <a16:creationId xmlns:a16="http://schemas.microsoft.com/office/drawing/2014/main" id="{F08A5383-476F-83F2-AC56-59238233A234}"/>
                  </a:ext>
                </a:extLst>
              </p:cNvPr>
              <p:cNvPicPr/>
              <p:nvPr/>
            </p:nvPicPr>
            <p:blipFill>
              <a:blip r:embed="rId6"/>
              <a:stretch>
                <a:fillRect/>
              </a:stretch>
            </p:blipFill>
            <p:spPr>
              <a:xfrm>
                <a:off x="6537122" y="4494441"/>
                <a:ext cx="238068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DB09D904-29A7-894B-892D-833A99FF1239}"/>
                  </a:ext>
                </a:extLst>
              </p14:cNvPr>
              <p14:cNvContentPartPr/>
              <p14:nvPr/>
            </p14:nvContentPartPr>
            <p14:xfrm>
              <a:off x="10650482" y="990201"/>
              <a:ext cx="489600" cy="38880"/>
            </p14:xfrm>
          </p:contentPart>
        </mc:Choice>
        <mc:Fallback>
          <p:pic>
            <p:nvPicPr>
              <p:cNvPr id="8" name="Ink 7">
                <a:extLst>
                  <a:ext uri="{FF2B5EF4-FFF2-40B4-BE49-F238E27FC236}">
                    <a16:creationId xmlns:a16="http://schemas.microsoft.com/office/drawing/2014/main" id="{DB09D904-29A7-894B-892D-833A99FF1239}"/>
                  </a:ext>
                </a:extLst>
              </p:cNvPr>
              <p:cNvPicPr/>
              <p:nvPr/>
            </p:nvPicPr>
            <p:blipFill>
              <a:blip r:embed="rId8"/>
              <a:stretch>
                <a:fillRect/>
              </a:stretch>
            </p:blipFill>
            <p:spPr>
              <a:xfrm>
                <a:off x="10596842" y="882201"/>
                <a:ext cx="59724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3967C56E-07C6-3318-553D-8B2678DB6570}"/>
                  </a:ext>
                </a:extLst>
              </p14:cNvPr>
              <p14:cNvContentPartPr/>
              <p14:nvPr/>
            </p14:nvContentPartPr>
            <p14:xfrm>
              <a:off x="10639322" y="1336881"/>
              <a:ext cx="416880" cy="68400"/>
            </p14:xfrm>
          </p:contentPart>
        </mc:Choice>
        <mc:Fallback>
          <p:pic>
            <p:nvPicPr>
              <p:cNvPr id="10" name="Ink 9">
                <a:extLst>
                  <a:ext uri="{FF2B5EF4-FFF2-40B4-BE49-F238E27FC236}">
                    <a16:creationId xmlns:a16="http://schemas.microsoft.com/office/drawing/2014/main" id="{3967C56E-07C6-3318-553D-8B2678DB6570}"/>
                  </a:ext>
                </a:extLst>
              </p:cNvPr>
              <p:cNvPicPr/>
              <p:nvPr/>
            </p:nvPicPr>
            <p:blipFill>
              <a:blip r:embed="rId10"/>
              <a:stretch>
                <a:fillRect/>
              </a:stretch>
            </p:blipFill>
            <p:spPr>
              <a:xfrm>
                <a:off x="10585322" y="1228881"/>
                <a:ext cx="52452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B915D51F-941D-246F-551E-ECC1C85CE39C}"/>
                  </a:ext>
                </a:extLst>
              </p14:cNvPr>
              <p14:cNvContentPartPr/>
              <p14:nvPr/>
            </p14:nvContentPartPr>
            <p14:xfrm>
              <a:off x="10615202" y="3864441"/>
              <a:ext cx="448560" cy="53640"/>
            </p14:xfrm>
          </p:contentPart>
        </mc:Choice>
        <mc:Fallback>
          <p:pic>
            <p:nvPicPr>
              <p:cNvPr id="11" name="Ink 10">
                <a:extLst>
                  <a:ext uri="{FF2B5EF4-FFF2-40B4-BE49-F238E27FC236}">
                    <a16:creationId xmlns:a16="http://schemas.microsoft.com/office/drawing/2014/main" id="{B915D51F-941D-246F-551E-ECC1C85CE39C}"/>
                  </a:ext>
                </a:extLst>
              </p:cNvPr>
              <p:cNvPicPr/>
              <p:nvPr/>
            </p:nvPicPr>
            <p:blipFill>
              <a:blip r:embed="rId12"/>
              <a:stretch>
                <a:fillRect/>
              </a:stretch>
            </p:blipFill>
            <p:spPr>
              <a:xfrm>
                <a:off x="10561202" y="3756801"/>
                <a:ext cx="55620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3" name="Ink 12">
                <a:extLst>
                  <a:ext uri="{FF2B5EF4-FFF2-40B4-BE49-F238E27FC236}">
                    <a16:creationId xmlns:a16="http://schemas.microsoft.com/office/drawing/2014/main" id="{A9528916-B8E8-2BF3-597B-46F1EA183304}"/>
                  </a:ext>
                </a:extLst>
              </p14:cNvPr>
              <p14:cNvContentPartPr/>
              <p14:nvPr/>
            </p14:nvContentPartPr>
            <p14:xfrm>
              <a:off x="10609442" y="3179001"/>
              <a:ext cx="450360" cy="32760"/>
            </p14:xfrm>
          </p:contentPart>
        </mc:Choice>
        <mc:Fallback>
          <p:pic>
            <p:nvPicPr>
              <p:cNvPr id="13" name="Ink 12">
                <a:extLst>
                  <a:ext uri="{FF2B5EF4-FFF2-40B4-BE49-F238E27FC236}">
                    <a16:creationId xmlns:a16="http://schemas.microsoft.com/office/drawing/2014/main" id="{A9528916-B8E8-2BF3-597B-46F1EA183304}"/>
                  </a:ext>
                </a:extLst>
              </p:cNvPr>
              <p:cNvPicPr/>
              <p:nvPr/>
            </p:nvPicPr>
            <p:blipFill>
              <a:blip r:embed="rId14"/>
              <a:stretch>
                <a:fillRect/>
              </a:stretch>
            </p:blipFill>
            <p:spPr>
              <a:xfrm>
                <a:off x="10555802" y="3071001"/>
                <a:ext cx="55800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5" name="Ink 14">
                <a:extLst>
                  <a:ext uri="{FF2B5EF4-FFF2-40B4-BE49-F238E27FC236}">
                    <a16:creationId xmlns:a16="http://schemas.microsoft.com/office/drawing/2014/main" id="{F3620AAA-3955-8FD6-3DC4-75E1A32F8AF3}"/>
                  </a:ext>
                </a:extLst>
              </p14:cNvPr>
              <p14:cNvContentPartPr/>
              <p14:nvPr/>
            </p14:nvContentPartPr>
            <p14:xfrm>
              <a:off x="10588922" y="2122401"/>
              <a:ext cx="508680" cy="32760"/>
            </p14:xfrm>
          </p:contentPart>
        </mc:Choice>
        <mc:Fallback>
          <p:pic>
            <p:nvPicPr>
              <p:cNvPr id="15" name="Ink 14">
                <a:extLst>
                  <a:ext uri="{FF2B5EF4-FFF2-40B4-BE49-F238E27FC236}">
                    <a16:creationId xmlns:a16="http://schemas.microsoft.com/office/drawing/2014/main" id="{F3620AAA-3955-8FD6-3DC4-75E1A32F8AF3}"/>
                  </a:ext>
                </a:extLst>
              </p:cNvPr>
              <p:cNvPicPr/>
              <p:nvPr/>
            </p:nvPicPr>
            <p:blipFill>
              <a:blip r:embed="rId16"/>
              <a:stretch>
                <a:fillRect/>
              </a:stretch>
            </p:blipFill>
            <p:spPr>
              <a:xfrm>
                <a:off x="10534922" y="2014401"/>
                <a:ext cx="616320" cy="248400"/>
              </a:xfrm>
              <a:prstGeom prst="rect">
                <a:avLst/>
              </a:prstGeom>
            </p:spPr>
          </p:pic>
        </mc:Fallback>
      </mc:AlternateContent>
      <p:sp>
        <p:nvSpPr>
          <p:cNvPr id="16" name="TextBox 15">
            <a:extLst>
              <a:ext uri="{FF2B5EF4-FFF2-40B4-BE49-F238E27FC236}">
                <a16:creationId xmlns:a16="http://schemas.microsoft.com/office/drawing/2014/main" id="{B39272B2-36B9-ED3F-EF78-2F134511577B}"/>
              </a:ext>
            </a:extLst>
          </p:cNvPr>
          <p:cNvSpPr txBox="1"/>
          <p:nvPr/>
        </p:nvSpPr>
        <p:spPr>
          <a:xfrm>
            <a:off x="265928" y="128479"/>
            <a:ext cx="5960962" cy="6740307"/>
          </a:xfrm>
          <a:prstGeom prst="rect">
            <a:avLst/>
          </a:prstGeom>
          <a:noFill/>
        </p:spPr>
        <p:txBody>
          <a:bodyPr wrap="square" rtlCol="0">
            <a:spAutoFit/>
          </a:bodyPr>
          <a:lstStyle/>
          <a:p>
            <a:r>
              <a:rPr lang="en-US" sz="1600" b="1" dirty="0"/>
              <a:t>MTA × Headway (Model 5)</a:t>
            </a:r>
            <a:r>
              <a:rPr lang="en-US" sz="1600" dirty="0"/>
              <a:t> — For every additional minute of scheduled headway, MTA's deviation increases by 0.012 minutes more than MBTA's. Headway spacing offers slightly less protection against deviation for MTA.</a:t>
            </a:r>
          </a:p>
          <a:p>
            <a:endParaRPr lang="en-US" sz="1600" dirty="0"/>
          </a:p>
          <a:p>
            <a:r>
              <a:rPr lang="en-US" sz="1600" b="1" dirty="0"/>
              <a:t>WMATA × Headway</a:t>
            </a:r>
            <a:r>
              <a:rPr lang="en-US" sz="1600" dirty="0"/>
              <a:t> — For every additional minute of scheduled headway, WMATA's deviation is 0.101 minutes lower than MBTA's. Longer headways are far more protective against deviation at WMATA than at MBTA.</a:t>
            </a:r>
          </a:p>
          <a:p>
            <a:endParaRPr lang="en-US" sz="1600" dirty="0"/>
          </a:p>
          <a:p>
            <a:r>
              <a:rPr lang="en-US" sz="1600" b="1" dirty="0"/>
              <a:t>Agency: MTA &amp; WMATA (Model 6)</a:t>
            </a:r>
            <a:r>
              <a:rPr lang="en-US" sz="1600" dirty="0"/>
              <a:t> — Compared to MBTA, MTA routes are 1 percentage point more likely to be bunching. WMATA routes are 3.8 percentage points </a:t>
            </a:r>
            <a:r>
              <a:rPr lang="en-US" sz="1600" i="1" dirty="0"/>
              <a:t>less</a:t>
            </a:r>
            <a:r>
              <a:rPr lang="en-US" sz="1600" dirty="0"/>
              <a:t> likely, </a:t>
            </a:r>
          </a:p>
          <a:p>
            <a:endParaRPr lang="en-US" sz="1600" dirty="0"/>
          </a:p>
          <a:p>
            <a:r>
              <a:rPr lang="en-US" sz="1600" b="1" dirty="0"/>
              <a:t>Peak Hour</a:t>
            </a:r>
            <a:r>
              <a:rPr lang="en-US" sz="1600" dirty="0"/>
              <a:t> — Observations during peak hours are 0.5 percentage points less likely to be bunching, this is counterintuitive.</a:t>
            </a:r>
          </a:p>
          <a:p>
            <a:endParaRPr lang="en-US" sz="1600" dirty="0"/>
          </a:p>
          <a:p>
            <a:r>
              <a:rPr lang="en-US" sz="1600" b="1" dirty="0"/>
              <a:t>Timepoint Rate</a:t>
            </a:r>
            <a:r>
              <a:rPr lang="en-US" sz="1600" dirty="0"/>
              <a:t> — A 10 percentage point increase in timepoint rate is associated with a 1.4 percentage point higher probability of bunching, holding behavior at timepoints may actually contribute to buses clustering.</a:t>
            </a:r>
          </a:p>
          <a:p>
            <a:endParaRPr lang="en-US" sz="1600" dirty="0"/>
          </a:p>
          <a:p>
            <a:r>
              <a:rPr lang="en-US" sz="1600" b="1" dirty="0"/>
              <a:t>Headway CV</a:t>
            </a:r>
            <a:r>
              <a:rPr lang="en-US" sz="1600" dirty="0"/>
              <a:t> — A 10 percentage point increase in headway CV is associated with a 1.5 percentage point lower probability of bunching, routes with more variable spacing throughout the day bunch less.</a:t>
            </a:r>
          </a:p>
          <a:p>
            <a:endParaRPr lang="en-US" sz="1600" dirty="0"/>
          </a:p>
        </p:txBody>
      </p:sp>
    </p:spTree>
    <p:extLst>
      <p:ext uri="{BB962C8B-B14F-4D97-AF65-F5344CB8AC3E}">
        <p14:creationId xmlns:p14="http://schemas.microsoft.com/office/powerpoint/2010/main" val="487088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EFEE48-9038-F707-B0F3-513C8D60E471}"/>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kern="1200">
                <a:solidFill>
                  <a:schemeClr val="tx1"/>
                </a:solidFill>
                <a:latin typeface="+mj-lt"/>
                <a:ea typeface="+mj-ea"/>
                <a:cs typeface="+mj-cs"/>
              </a:rPr>
              <a:t>Questions?</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m2-res_720p">
            <a:hlinkClick r:id="" action="ppaction://media"/>
            <a:extLst>
              <a:ext uri="{FF2B5EF4-FFF2-40B4-BE49-F238E27FC236}">
                <a16:creationId xmlns:a16="http://schemas.microsoft.com/office/drawing/2014/main" id="{7BE2BE1E-4FB9-956E-0514-DE9F08A4678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321906" y="813993"/>
            <a:ext cx="5230014" cy="5230014"/>
          </a:xfrm>
          <a:prstGeom prst="rect">
            <a:avLst/>
          </a:prstGeom>
        </p:spPr>
      </p:pic>
    </p:spTree>
    <p:extLst>
      <p:ext uri="{BB962C8B-B14F-4D97-AF65-F5344CB8AC3E}">
        <p14:creationId xmlns:p14="http://schemas.microsoft.com/office/powerpoint/2010/main" val="3353248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06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vol="80000">
                <p:cTn id="12" repeatCount="indefinite" fill="hold" display="0">
                  <p:stCondLst>
                    <p:cond delay="indefinite"/>
                  </p:stCondLst>
                </p:cTn>
                <p:tgtEl>
                  <p:spTgt spid="6"/>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410</TotalTime>
  <Words>1011</Words>
  <Application>Microsoft Macintosh PowerPoint</Application>
  <PresentationFormat>Widescreen</PresentationFormat>
  <Paragraphs>65</Paragraphs>
  <Slides>13</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Bus Bunching  Cross Agency Comparison</vt:lpstr>
      <vt:lpstr>Motivation</vt:lpstr>
      <vt:lpstr>Data Collection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Ahmad</dc:creator>
  <cp:lastModifiedBy>Alexander, Ahmad</cp:lastModifiedBy>
  <cp:revision>1</cp:revision>
  <dcterms:created xsi:type="dcterms:W3CDTF">2026-05-12T13:42:02Z</dcterms:created>
  <dcterms:modified xsi:type="dcterms:W3CDTF">2026-05-12T20:32:48Z</dcterms:modified>
</cp:coreProperties>
</file>